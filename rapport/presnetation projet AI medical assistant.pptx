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690" y="1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3BCCAE-A92E-29F2-B3B6-B09B0E052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2A4E19-66F2-7F37-C7CB-7B35EB49F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E418FC-014F-6C54-09B6-BBFCE02A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77DC41-BA27-CE3D-ABAF-DA0C153E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4B04D4-6A56-C007-6C9C-E0BF220A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6334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0D53C3-E599-8C4A-4DB4-43868ACF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4A787E-87B7-2AFD-F53F-AAD7B5BC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2B224C-B0FE-4B9A-5FD1-3BBEEFCE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12CAE-8E73-2E9E-A0D4-0FC77F6E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17513C-FC92-52F0-45D5-23694A29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3675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F50EF5-C392-ACD7-13DC-CE772E1F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377C3C-C91A-666D-198B-D0A9C1A1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629A78-7F45-C7CF-A9F5-1045F237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D27BA2-8033-C238-9ACD-A4405A14E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D7B31-CE88-40E8-3C6F-A09CD250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464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15218-B8C8-E225-FBF4-6A998148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F9DF8A-C4DB-2B94-DFB0-908E34BCA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094749-A961-23B9-7A8F-5A75224C1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F63700-3688-BAD6-4151-DF0C5472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61FE1D-084F-6381-B450-8A441EDF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ED2A7A-D116-989D-3FBA-552DEA4A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4241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57729-B458-C1CF-671B-8A11A2FB4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9F2AE5-C1FD-EEDD-4061-3FEF47DF4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2F063A-AEB4-950D-0C92-4E3A555E2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F12962-72AD-D0FA-2893-9045B4760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BD3F08-81E8-9F01-31F6-253C60082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4561EC9-3932-DEBE-EF67-353EF2A2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909ED1B-3F65-13D5-3F90-CB5464D5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D5FC549-585B-FD3A-A804-2CD39262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4058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38B573-0C2D-0191-5458-CC88A1F9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C199BA-B192-2F61-9190-01134B7B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59CB96-6A0B-95F8-63D8-6BF3AD74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A38C018-D4B1-0C51-F3C8-F49C811B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183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CEDECE-F972-696F-90FD-2DDF7F43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96DB85-E81C-4DE6-5CBB-E547E5C0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98FFEB-3B7C-67BA-52AF-A5CD53496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5364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BB195C-639C-F14B-30C4-31F54A89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A38ECF-FAF2-8B6E-6F19-2CC218AD1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C52A7A-8C58-2093-0E85-9B74D4D5D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C049A6-438F-D540-C77B-FE978398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763EAD-2ED6-852C-EBF2-935D0B62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002DE9-F95A-204C-4C00-7E1E5622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5339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74E3F-5C2B-02AA-EA2C-519EF093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EC6027F-790A-E8A8-1795-D4985AC1B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A68F22-290A-2E4E-9016-E1BF30D2C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9021C2-50DD-2789-7383-EED56C4D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866BB0-9BDD-A98B-D8C5-3668B669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F6F991-61F8-96CD-5B53-72A8C837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89065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3EEF9-04D8-87DB-53DA-30922A41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130BC8-642C-0D6F-0E9A-2BCD590F8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0ECA17-B14B-BB9D-AD3F-C3399E91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3A8437-FD9D-0533-03DD-FB938463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9C6688-96C6-FD5F-8F74-E7FB172B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5428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DD93BF8-13CB-580D-AA1B-00649E847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DDCE14-53B1-0562-555D-BE0159FD7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AF15EC-6B4E-D131-7477-EAE59C44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A24926-EA47-8536-636B-A7490543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A62F69-D0CD-5915-956C-D40EEB2C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4813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634477-6C27-6FDA-B603-365B6E70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DA253E-BE29-939A-F1DF-404B9E6AC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897E72-0B07-837C-2B0D-EF39A2E02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951F4-E755-4F09-8A86-B3483B63AD55}" type="datetimeFigureOut">
              <a:rPr lang="fr-MA" smtClean="0"/>
              <a:t>25/05/2026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B648A8-F949-0FDA-CC62-4D54956F0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2D5E91-6747-5633-94AB-C77D5F3BB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10CBC-A0A5-4B1C-8E60-6D80FDA97AF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07087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6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4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0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8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3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4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5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6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8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9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0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1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3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4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5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6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8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39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1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2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C6921A64-5787-E947-6AAB-4B65ED32CCEC}"/>
              </a:ext>
            </a:extLst>
          </p:cNvPr>
          <p:cNvGrpSpPr/>
          <p:nvPr/>
        </p:nvGrpSpPr>
        <p:grpSpPr>
          <a:xfrm>
            <a:off x="506577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A59C41D2-142B-74F7-F0AB-B4DFA17C1322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AE70CCCD-21BA-48E6-FEE8-BBF0258B38C9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292F14E2-BF2A-B762-F693-2601670D6A5A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D677CD3E-870D-9B6F-8DD8-EA89BAB05B85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B36B24F5-DE63-C69D-7C0A-36E756C78740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766DC79A-A2F8-5AA7-FAE5-8852775B9FA1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1F692F3F-A0AA-F122-059B-16CF138C454C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655D1D7-A5FB-89E5-D400-75CEC63C7C1A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430A635-8896-A8BF-F249-87DBE6F37045}"/>
              </a:ext>
            </a:extLst>
          </p:cNvPr>
          <p:cNvSpPr txBox="1"/>
          <p:nvPr/>
        </p:nvSpPr>
        <p:spPr>
          <a:xfrm>
            <a:off x="347472" y="274320"/>
            <a:ext cx="4361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809658D-9C41-7350-40BB-B06920E32E80}"/>
              </a:ext>
            </a:extLst>
          </p:cNvPr>
          <p:cNvSpPr txBox="1"/>
          <p:nvPr/>
        </p:nvSpPr>
        <p:spPr>
          <a:xfrm>
            <a:off x="347472" y="3193344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9537C75-0947-68AC-7401-A494C78F6373}"/>
              </a:ext>
            </a:extLst>
          </p:cNvPr>
          <p:cNvSpPr txBox="1"/>
          <p:nvPr/>
        </p:nvSpPr>
        <p:spPr>
          <a:xfrm>
            <a:off x="347472" y="488747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D2532DE-7E7E-B4E6-C6A3-AA575703AFC0}"/>
              </a:ext>
            </a:extLst>
          </p:cNvPr>
          <p:cNvSpPr/>
          <p:nvPr/>
        </p:nvSpPr>
        <p:spPr>
          <a:xfrm>
            <a:off x="15897078" y="1009180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0658300-7747-198C-264F-BF5D554D1D2F}"/>
              </a:ext>
            </a:extLst>
          </p:cNvPr>
          <p:cNvSpPr/>
          <p:nvPr/>
        </p:nvSpPr>
        <p:spPr>
          <a:xfrm>
            <a:off x="16488274" y="3847621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2763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5A189-5C1C-511A-368F-F74290DA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C004C341-529E-B4D9-739D-3E570C584B1E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0EF51CF9-2DB0-75B3-B471-D5909BEDCF44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40502B2B-78AF-4E38-F377-7DCC82810147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FA6E44A6-CA72-BBEC-AC4E-2403EEB9C902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0C86A1C9-8891-B27E-05E9-6356FD031E9B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53E6EC4D-BF9E-7823-FA26-B31C17028E79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20DEEEF2-EDB8-8A59-006A-6E15DB5014F0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B16EB06C-45EA-57CA-8FD9-8CE382F44A15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D9CD2E9F-A3BF-2982-C47E-3BCDE5D366D0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32D90BF9-02D8-456B-3047-0EE3A963D256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A8CE50B-5D5F-C964-3F95-4E12DF6E65D9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7EAEDDF-E54D-3BE0-E942-5EAF02EED38D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C421508-DC55-0AA3-C0AC-7E10800DF7EF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3258250-52EE-5CD5-F4F3-4FB37D389722}"/>
              </a:ext>
            </a:extLst>
          </p:cNvPr>
          <p:cNvSpPr txBox="1"/>
          <p:nvPr/>
        </p:nvSpPr>
        <p:spPr>
          <a:xfrm>
            <a:off x="88451" y="952855"/>
            <a:ext cx="547678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L’intelligence artificielle transforme aujourd’hui le domaine de la santé en améliorant la précision du diagnostic et l’aide à la décision médicale.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Les radiographies thoraciques (Chest X-Ray) représentent l’un des examens médicaux les plus utilisés pour détecter les maladies pulmonaires telles que la pneumonie et la cardiomégalie.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Grâce au Deep Learning et à la vision par ordinateur, les systèmes d’IA peuvent analyser automatiquement les images médicales et assister les médecins dans un diagnostic plus rapide et plus fiable.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F9AD52E-C7E9-0522-A3B7-8D96D4DC11FC}"/>
              </a:ext>
            </a:extLst>
          </p:cNvPr>
          <p:cNvSpPr/>
          <p:nvPr/>
        </p:nvSpPr>
        <p:spPr>
          <a:xfrm>
            <a:off x="5808550" y="1038159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5DFB998-ED4E-E372-F602-817AFBBAAFEC}"/>
              </a:ext>
            </a:extLst>
          </p:cNvPr>
          <p:cNvSpPr/>
          <p:nvPr/>
        </p:nvSpPr>
        <p:spPr>
          <a:xfrm>
            <a:off x="7930427" y="339600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CAE5CEB-9AED-DF0D-A234-CB491D59C6F6}"/>
              </a:ext>
            </a:extLst>
          </p:cNvPr>
          <p:cNvSpPr/>
          <p:nvPr/>
        </p:nvSpPr>
        <p:spPr>
          <a:xfrm>
            <a:off x="-3634739" y="1247329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7AA7810-C8BC-66FC-C77F-D5663234B7DF}"/>
              </a:ext>
            </a:extLst>
          </p:cNvPr>
          <p:cNvSpPr/>
          <p:nvPr/>
        </p:nvSpPr>
        <p:spPr>
          <a:xfrm>
            <a:off x="13561842" y="1491107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8480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5EAA6-4977-5681-4135-D4D6EEE2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372A7E78-F463-4760-CAEB-B7D94DD67DA4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C0407540-63ED-3EE4-634B-03D8A780F2E3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8C1C2962-2463-C709-98CD-4EA4FF49C061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8BF45438-AFB2-39DF-1C07-58D15ED37376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BBF4A5D7-397D-492C-EFC6-48A37F961556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96EA9E9-CE93-ED20-FE14-0C1940AF37CC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F1202D99-D212-4F37-215A-9CCAFF7F0519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F9EA3E7-4B85-9738-AAA7-63E0FF2A3359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FC79AB0-409C-1F17-C3EC-E68B3B409D17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5A8DB43F-632D-5950-CF45-ED3F1104749B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2177416-905A-5DFC-7E31-495493504551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B97731-F09F-8932-2CF8-FF533B003D60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984D47-5816-D834-1E9D-4C026F64FB84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6FA2E0A-A8ED-AAD2-75A6-6DDB763BFF85}"/>
              </a:ext>
            </a:extLst>
          </p:cNvPr>
          <p:cNvSpPr txBox="1"/>
          <p:nvPr/>
        </p:nvSpPr>
        <p:spPr>
          <a:xfrm>
            <a:off x="3357606" y="930274"/>
            <a:ext cx="547678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diagnostic des maladies pulmonaires à partir des radiographies thoraciques représente une tâche complexe nécessitant une grande expertise médicale.</a:t>
            </a:r>
          </a:p>
          <a:p>
            <a:pPr algn="ctr"/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de nombreux établissements de santé, le manque de spécialistes ainsi que le nombre élevé de patients peuvent entraîner des retards de diagnostic et augmenter les risques d’erreurs médicales.</a:t>
            </a:r>
          </a:p>
          <a:p>
            <a:pPr algn="ctr"/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plus, les systèmes d’intelligence artificielle sont souvent considérés comme des modèles « boîte noire », ce qui limite la compréhension des prédictions et réduit la confiance des médecins dans les résultats générés par l’IA.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3A27EBA-ECCF-D606-9637-A6D4217DA465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0931BFD-270B-E126-6613-201D95270300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807EDA6-6BAD-F6F5-2E18-9E810D197C4D}"/>
              </a:ext>
            </a:extLst>
          </p:cNvPr>
          <p:cNvSpPr/>
          <p:nvPr/>
        </p:nvSpPr>
        <p:spPr>
          <a:xfrm>
            <a:off x="234462" y="1245531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F529458-C5EE-A2A5-3411-4A017A9EEF49}"/>
              </a:ext>
            </a:extLst>
          </p:cNvPr>
          <p:cNvSpPr/>
          <p:nvPr/>
        </p:nvSpPr>
        <p:spPr>
          <a:xfrm>
            <a:off x="8834393" y="1190605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708F83D-86E8-2864-BE91-3B40242A3269}"/>
              </a:ext>
            </a:extLst>
          </p:cNvPr>
          <p:cNvSpPr/>
          <p:nvPr/>
        </p:nvSpPr>
        <p:spPr>
          <a:xfrm>
            <a:off x="-5341973" y="3325245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5DA56FF-8CF7-60D2-B684-DE26EE95BE4F}"/>
              </a:ext>
            </a:extLst>
          </p:cNvPr>
          <p:cNvSpPr/>
          <p:nvPr/>
        </p:nvSpPr>
        <p:spPr>
          <a:xfrm>
            <a:off x="13633117" y="2925991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775017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E75A7-785D-87F9-0A1C-8BA2EDD7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836DCB54-7993-3DA3-5C21-E2B20B05243F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E4295CBC-FEAE-AFAC-7184-7384C8B65DAA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5022E83D-5E20-9045-4051-245B39EDA04E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82D06297-3E77-6C6C-C57E-AA7D463D7EF2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CB797C50-281C-F83A-AED3-367C9FD99433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BA262B7B-7F85-E145-C8F5-D93D502AFC54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FC13FF76-F061-585D-A02C-7431D1ABD027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FEB05388-6D00-4113-5777-F64611DA2981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6F8DCA32-232A-4B29-176B-F651E303DC44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41E73A92-0F4C-44B9-4467-775D6BD4DC35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B83202E-E545-5989-C73C-C0159D5F6B62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E4BA9AA-969C-8113-6BB6-771C66F1AAC2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029F987-AC1F-5C83-1EB8-A7E2CED6CB5F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du Projet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E9523D9-7D8A-FFBD-6DEF-5AA0EF266C0A}"/>
              </a:ext>
            </a:extLst>
          </p:cNvPr>
          <p:cNvSpPr txBox="1"/>
          <p:nvPr/>
        </p:nvSpPr>
        <p:spPr>
          <a:xfrm>
            <a:off x="269162" y="825157"/>
            <a:ext cx="1192283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L’objectif principal de ce projet est de développer un système intelligent capable d’analyser automatiquement des radiographies thoraciques afin d’assister les professionnels de santé dans le diagnostic des maladies pulmonaires.</a:t>
            </a:r>
          </a:p>
          <a:p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*Pour atteindre cet objectif, plusieurs objectifs spécifiques ont été définis :</a:t>
            </a: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*Détecter automatiquement la pneumonie à partir des radiographies thoraciques </a:t>
            </a: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*Utiliser le Deep Learning avec l’architecture ResNet18 *</a:t>
            </a: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*Intégrer Grad-CAM afin d’améliorer l’explicabilité des prédictions </a:t>
            </a: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*Développer une plateforme web moderne pour les médecins et les patients </a:t>
            </a: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*Mettre en place une approche Human-in-the-Loop 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9232AAA-6677-F337-7A37-97CE9896616E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CF191A4-E3C0-83A1-EF9B-14E0C82E5932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81EBCB8-E05C-F60F-D0F7-EC3DCFA98F53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9A277D3-4DE0-CCDF-E44B-B50DF075153E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1816771-E356-5A18-16C9-57494A80E7FE}"/>
              </a:ext>
            </a:extLst>
          </p:cNvPr>
          <p:cNvSpPr/>
          <p:nvPr/>
        </p:nvSpPr>
        <p:spPr>
          <a:xfrm>
            <a:off x="478301" y="4072468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F9CCB39-266C-0027-25A7-C0C251476149}"/>
              </a:ext>
            </a:extLst>
          </p:cNvPr>
          <p:cNvSpPr/>
          <p:nvPr/>
        </p:nvSpPr>
        <p:spPr>
          <a:xfrm>
            <a:off x="6836429" y="4072468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77307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B9338-F5C8-F7D3-50A6-5E0517F3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3D02BB48-D73F-DE25-9AE8-513D5C67FABA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3A7BF29C-EBD1-82EC-1A51-BB6369841943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D1360942-D332-4DB4-9931-1738329489A7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8485C356-B0B5-E0C8-8593-FCC1CC9B1A9F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B8873780-6FA7-6404-858A-75F756174707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B7967DF3-783A-99DD-0CC1-3C84686F084F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F0483DD4-6135-4E25-7DFB-87313708D00B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162938A0-9F8E-2C44-FF53-52B13B57F57F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9DF14C1-BB8C-A03B-1D63-BC2383F289CD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6295988B-36A5-B88C-BB1C-76E46BFA4405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E9CEBC1-8323-2DE5-DF7D-BCEE16CBA227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1E2F409-B6D9-0C8E-1881-8D202B6D19A5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CB91AD-5564-ED73-ECFA-08954CB0E97B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Utilisées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612EDBE-7E62-657E-9E6D-76EE369142EF}"/>
              </a:ext>
            </a:extLst>
          </p:cNvPr>
          <p:cNvSpPr txBox="1"/>
          <p:nvPr/>
        </p:nvSpPr>
        <p:spPr>
          <a:xfrm>
            <a:off x="269162" y="2706813"/>
            <a:ext cx="119228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développement du projet AI </a:t>
            </a:r>
            <a:r>
              <a:rPr lang="fr-FR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Assistant repose sur plusieurs technologies modernes couvrant le Deep Learning, le développement web, les API REST, la sécurité et les bases de données.</a:t>
            </a: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Ces technologies permettent de construire une plateforme intelligente, performante et interactive dédiée à l’analyse des radiographies thoraciques.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2F29F8-CA69-1DD6-D85C-6A7F706DE347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9325DC0B-3789-21EB-D2B8-837E1EA0167E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2DBCE74-98FF-C20B-0778-96E9E1602C20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76C15EA-CACF-9A25-7E53-824B05FE2ACD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1E4BFA1-529F-7D63-F965-468F5133F81D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3D10894-78A5-E087-FD6D-3DBBE2211E16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69DACC66-B906-C3E3-B9AC-F899E08650CC}"/>
              </a:ext>
            </a:extLst>
          </p:cNvPr>
          <p:cNvSpPr/>
          <p:nvPr/>
        </p:nvSpPr>
        <p:spPr>
          <a:xfrm>
            <a:off x="3681046" y="935736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4008A0D6-1AE8-FC4C-257F-C2EEECDE9C1F}"/>
              </a:ext>
            </a:extLst>
          </p:cNvPr>
          <p:cNvSpPr/>
          <p:nvPr/>
        </p:nvSpPr>
        <p:spPr>
          <a:xfrm>
            <a:off x="3768735" y="41736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19776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C745C-5F3B-BF5F-A845-3068A3DC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D71690FB-4DDB-9553-EA7F-B2073A65098F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F04E9094-5FA9-584B-DBA0-ACE60267C209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C30A2A58-882C-0DF8-C6B7-9A31F577656B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5AFBA591-4C1F-3B3F-8541-443E647CE7D4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F1154A45-9678-1C3E-D9D0-A039E647BA69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88E85231-10AB-C839-3B76-DAE1F7B4DC99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71CBB1CE-4F30-ED31-A2C7-3E37C56E1E76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2E758DA6-A12F-6EBC-37C4-41CA3E7AB0A3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FE44BCB-8C0D-B15E-541F-BCB592A12371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BE09325C-79B6-5174-F8FE-4B48ED825BA5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274B675-466B-5B09-19E4-5DBF6327D127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210E46C-6481-B239-F8D7-F364BE92E6B2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2062A9-8939-74A4-E2EC-05CA15F3E5FC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Utilisées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930243C-D072-2BC8-3FC7-C372E09E9D8C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84DCD69-3314-036B-7900-C2308D4CD1AE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7815EFA-FF1C-F334-600A-31738748D438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F8583A9-F8DD-84D9-1905-B6BA524E74F1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2D0FD4F-7F26-A586-7FFA-D2AFF2C9A25C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94759EC-53CF-E7B9-5D55-6E9D72C9DF45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85EBC13-AD07-1EC5-98AD-BF7E37FEC024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8E8D4037-4011-A5D2-9DA7-3E2625195BFC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0505B67-62D8-2CDA-99FB-F35DB4A5C746}"/>
              </a:ext>
            </a:extLst>
          </p:cNvPr>
          <p:cNvSpPr txBox="1"/>
          <p:nvPr/>
        </p:nvSpPr>
        <p:spPr>
          <a:xfrm>
            <a:off x="3447405" y="3025093"/>
            <a:ext cx="710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 &amp; Deep Learning</a:t>
            </a:r>
            <a:endParaRPr lang="fr-MA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5A3EDFA-323F-9C74-3F9A-8BD5788CAED5}"/>
              </a:ext>
            </a:extLst>
          </p:cNvPr>
          <p:cNvSpPr/>
          <p:nvPr/>
        </p:nvSpPr>
        <p:spPr>
          <a:xfrm>
            <a:off x="820615" y="935736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78F7313-65BC-5D0F-6E84-C7B893478498}"/>
              </a:ext>
            </a:extLst>
          </p:cNvPr>
          <p:cNvSpPr/>
          <p:nvPr/>
        </p:nvSpPr>
        <p:spPr>
          <a:xfrm>
            <a:off x="7309572" y="890104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7CC8A65-320C-1B62-BF47-729F50A927AC}"/>
              </a:ext>
            </a:extLst>
          </p:cNvPr>
          <p:cNvSpPr/>
          <p:nvPr/>
        </p:nvSpPr>
        <p:spPr>
          <a:xfrm>
            <a:off x="7393275" y="3985160"/>
            <a:ext cx="3845170" cy="1997515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BFF20075-36BD-4839-5638-161A604132D0}"/>
              </a:ext>
            </a:extLst>
          </p:cNvPr>
          <p:cNvSpPr/>
          <p:nvPr/>
        </p:nvSpPr>
        <p:spPr>
          <a:xfrm>
            <a:off x="820615" y="3985160"/>
            <a:ext cx="3845170" cy="1997515"/>
          </a:xfrm>
          <a:prstGeom prst="roundRect">
            <a:avLst/>
          </a:prstGeom>
          <a:blipFill>
            <a:blip r:embed="rId1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01258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95286-8CFA-434B-A440-A03D00A7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ADA0727C-603A-7BAE-2E4E-28F510290827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103D3C2-6033-02CE-529F-16F99DC3E3FA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74EA48FB-6291-732B-F2EA-FE2765751114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AE022154-21F4-F85F-5544-681568134F68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AFE644E6-9BE1-60F8-828D-2F33EA2CB384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DCC4EE40-B9C0-A651-84E9-92DE96F7F110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44179C18-9832-7A11-95C6-7BE8B7B956E0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704C5CE8-65DF-A37A-8D03-C2DF9D2F5E33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88BE5660-E84C-86DB-8C3B-FAFA3081D2CB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54EC0D90-F2A0-ADB6-B99C-CCD2AC75DF12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FAE203E-8F7A-EB8E-6508-FE68CBE7EA89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EA54C17-C417-122B-149F-477E08DC2840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28063B-C366-07D2-E421-87AC8C158534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Utilisées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0678AB-B95A-20FC-56F5-3C61DF98380D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4569F25-5ECB-EF08-6D5B-E2A54AE9CAE2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B9E8163-1A8E-AD96-97D1-28E92997D2A6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F1B095B-B0B0-545E-99A8-2190575964DA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4B7CF42-7E8F-87D2-4CCE-FF407586688F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BFAD9D2-A555-78E5-E91B-BF2AF92DDE98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1FC964C-7D55-E2FD-2CB6-FEC177B3EA51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C399461-A646-1B95-4FBB-5A3E00C0A164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5B4C8E2-105D-8681-BA3C-319E3BFB9E44}"/>
              </a:ext>
            </a:extLst>
          </p:cNvPr>
          <p:cNvSpPr txBox="1"/>
          <p:nvPr/>
        </p:nvSpPr>
        <p:spPr>
          <a:xfrm>
            <a:off x="3975060" y="3044279"/>
            <a:ext cx="710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Web &amp; Backend</a:t>
            </a:r>
            <a:endParaRPr lang="fr-MA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ED5B5A3-52F8-5C73-8D6A-663B22CAC655}"/>
              </a:ext>
            </a:extLst>
          </p:cNvPr>
          <p:cNvSpPr/>
          <p:nvPr/>
        </p:nvSpPr>
        <p:spPr>
          <a:xfrm>
            <a:off x="595412" y="1007271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362247A-4562-AC13-8A98-8927819F77AB}"/>
              </a:ext>
            </a:extLst>
          </p:cNvPr>
          <p:cNvSpPr/>
          <p:nvPr/>
        </p:nvSpPr>
        <p:spPr>
          <a:xfrm>
            <a:off x="7366311" y="986965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0BFFE875-648F-4E35-5804-473FCCAE3AE0}"/>
              </a:ext>
            </a:extLst>
          </p:cNvPr>
          <p:cNvSpPr/>
          <p:nvPr/>
        </p:nvSpPr>
        <p:spPr>
          <a:xfrm>
            <a:off x="7393275" y="3985160"/>
            <a:ext cx="3845170" cy="1997515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579C15A4-58C2-C2C0-02AF-E8432070B660}"/>
              </a:ext>
            </a:extLst>
          </p:cNvPr>
          <p:cNvSpPr/>
          <p:nvPr/>
        </p:nvSpPr>
        <p:spPr>
          <a:xfrm>
            <a:off x="820615" y="3985160"/>
            <a:ext cx="3845170" cy="1997515"/>
          </a:xfrm>
          <a:prstGeom prst="roundRect">
            <a:avLst/>
          </a:prstGeom>
          <a:blipFill>
            <a:blip r:embed="rId1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86458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17D27-6CDF-95AF-8DFA-D8B3358E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704A379-080E-07C3-56BE-4B8D9DC3457C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A552C066-59A4-1F79-8237-5667E42DF6DC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F3872801-1BCF-B591-064D-E74AFF413EFC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05F1C547-32D0-C7E0-B5A2-5A444D58062B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9C1EA93F-6AFD-9005-372F-51740F280F6C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32B688CB-F986-623C-58E1-1D25343E9371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A4583AA9-2569-8AB5-8F6E-5129E34350F9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C1E6E7FB-3585-4B36-DF00-09373B52D9E1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CA6CE306-DC10-0464-A009-54A9BA14E90C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F7173BC-919E-511B-2DF9-0D992FC15974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B27B92-E49E-BCDC-D2D6-6815CC9AE803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7E687DC-C733-6BEF-E908-5147CD7092C5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2EE6A8-9D1E-FDC0-EE20-28E2E31B5606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Utilisées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97058F3-8AD3-5BD8-3A48-190FC0C8BB15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29A1DB1-A568-E46C-9FCF-4861D456E370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922B10F1-D30F-4661-8AAD-AE9AD4C4C286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4F04657-CEF5-BFA8-6CE2-BF3369F0D67E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9EE08BC-6ED4-B472-B917-5258AB7B22A3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CFB9894-0988-4A67-D068-6EAF760FC28E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5513465-3B2F-F593-5149-93A2681EAFFD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8A06FE3-D8E6-5DBE-F2E7-A0AB82F620B9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A317840-4EFA-C402-D11A-533EBCC61A4D}"/>
              </a:ext>
            </a:extLst>
          </p:cNvPr>
          <p:cNvSpPr txBox="1"/>
          <p:nvPr/>
        </p:nvSpPr>
        <p:spPr>
          <a:xfrm>
            <a:off x="2779540" y="3073090"/>
            <a:ext cx="710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Sécurité &amp; base de donnée</a:t>
            </a:r>
            <a:endParaRPr lang="fr-MA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83B0393-F307-A666-CFF9-A04E75EC0915}"/>
              </a:ext>
            </a:extLst>
          </p:cNvPr>
          <p:cNvSpPr/>
          <p:nvPr/>
        </p:nvSpPr>
        <p:spPr>
          <a:xfrm>
            <a:off x="595412" y="1007271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8860304-4FBA-D831-7BB4-16397EBF5409}"/>
              </a:ext>
            </a:extLst>
          </p:cNvPr>
          <p:cNvSpPr/>
          <p:nvPr/>
        </p:nvSpPr>
        <p:spPr>
          <a:xfrm>
            <a:off x="7366311" y="986965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CF378FA-B4A7-393A-D7A4-B976E9F86E36}"/>
              </a:ext>
            </a:extLst>
          </p:cNvPr>
          <p:cNvSpPr/>
          <p:nvPr/>
        </p:nvSpPr>
        <p:spPr>
          <a:xfrm>
            <a:off x="3786908" y="4009159"/>
            <a:ext cx="3845170" cy="1997515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55873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76716-B143-D597-A34E-F946C115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E1AA4221-78DC-FAEC-7F29-874C6795F209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B278AD06-62DE-200D-482E-6F6C24F1C619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8B667BCA-6DE7-3072-491F-3CFF24572851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8BE74834-83FD-9051-3E24-A7C8A60590AD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04E9BA5E-ABE2-7F70-7EF3-555DFB7713DE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A50BD68C-FE85-4D0C-08F8-6B671BF8307A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6A7212CC-C496-F9EB-C208-54FC94EBCC10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3F3A3088-A632-78F6-01B3-7D4FD02BEFE6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E4322534-EB91-8A0A-A9B8-08E9019D0FD3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24610B69-8414-4463-57AA-F57DA00298EF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573997C-A832-07A0-B1A3-6E4C833B4104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72519A7-90F0-F0A7-E694-678D7C2985A0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EA3290-F6D8-58B0-4C33-A23F8254F750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Utilisées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FC114C0-595D-7622-D4D6-679D248A5E6B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39A1A17-5456-7386-D5FD-6E6C35D7F73B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80103EF-D16B-63D6-B0A9-5F8C3C0D72D0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FB727D8-A90D-3DB9-56A0-A2C3D812E8A9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A8F629B-E1D1-E567-645A-23AB7FDF5100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C69E97D-D065-5EA7-B552-28283D3C58C1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CFE4889-81FA-FCE2-EFC7-A51824C35C72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501019B4-C9B3-2780-22E6-B06425D0F54B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717BF0D-B5A3-2F59-075F-7D3DB9FCD239}"/>
              </a:ext>
            </a:extLst>
          </p:cNvPr>
          <p:cNvSpPr txBox="1"/>
          <p:nvPr/>
        </p:nvSpPr>
        <p:spPr>
          <a:xfrm>
            <a:off x="2571866" y="3025093"/>
            <a:ext cx="710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</a:rPr>
              <a:t>Frontend</a:t>
            </a:r>
            <a:endParaRPr lang="fr-MA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EFA839E-4E76-7DA3-2556-A38EA4074FA9}"/>
              </a:ext>
            </a:extLst>
          </p:cNvPr>
          <p:cNvSpPr/>
          <p:nvPr/>
        </p:nvSpPr>
        <p:spPr>
          <a:xfrm>
            <a:off x="675484" y="2469059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99C8F79-73CF-7CA4-4676-ED6EB1E13BE7}"/>
              </a:ext>
            </a:extLst>
          </p:cNvPr>
          <p:cNvSpPr/>
          <p:nvPr/>
        </p:nvSpPr>
        <p:spPr>
          <a:xfrm>
            <a:off x="7824920" y="2285388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733076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02763-63C6-1197-5A83-0F0352F1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49D796A8-4FD4-4AFB-88ED-CACBCE1E8BFB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8470A226-ACC5-B475-A16D-D007993D4EC5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91D76A1A-715B-9743-2E9D-49FF12EED10D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6AECC476-4766-06E5-21A1-717CDCCC74F4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4367584D-F86A-65F3-39B4-B92E4C8D8159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4A4694E-1B2C-51ED-7AD8-667E157DD173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ABCA2C09-25B2-9513-33E6-4AA8DD0F4C0A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101F442-7E88-4A80-A0B1-2ECCF7FE49D3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BC6EE8A4-FE09-336E-9ACC-91044777D52C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301DC56-3802-869F-8615-5FCC37853E7A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5C62765-3CD3-5038-0451-0D6C8B34F120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D5E7D09-776C-2737-0917-9EE4202C1B41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DBFC0B9-07F2-D181-4731-F561888556C9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 err="1">
                <a:solidFill>
                  <a:schemeClr val="bg1"/>
                </a:solidFill>
              </a:rPr>
              <a:t>Dataset</a:t>
            </a:r>
            <a:r>
              <a:rPr lang="fr-MA" sz="4400" dirty="0">
                <a:solidFill>
                  <a:schemeClr val="bg1"/>
                </a:solidFill>
              </a:rPr>
              <a:t> Utilisé</a:t>
            </a:r>
            <a:endParaRPr lang="fr-MA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C7FFEFA-BD86-FF5C-4656-6BBFA5CBD085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BB52596-A3C1-F18D-17AF-ED93454C23EE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4FF9A9C-CBCA-D3C3-7192-DEFDAABD19C5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3E1B574-7E15-1968-55A9-6EF9CC5772BC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CAE1CD7-0928-C0CD-8895-95FAA579B524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BB50A1F-16CE-69AE-F97A-99D7E9EA2BFC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724DF07-C891-1B3E-BF65-50E72005F698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914E250-1FAF-4AE2-58F7-DFE551C12B2F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6BE81D3-EB2B-52AD-3F05-2EF95B20A76F}"/>
              </a:ext>
            </a:extLst>
          </p:cNvPr>
          <p:cNvSpPr txBox="1"/>
          <p:nvPr/>
        </p:nvSpPr>
        <p:spPr>
          <a:xfrm>
            <a:off x="169282" y="1143246"/>
            <a:ext cx="845890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Dans ce projet, nous avons utilisé le </a:t>
            </a:r>
            <a:r>
              <a:rPr lang="fr-FR" sz="2800" dirty="0" err="1">
                <a:solidFill>
                  <a:schemeClr val="bg1"/>
                </a:solidFill>
              </a:rPr>
              <a:t>dataset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  <a:r>
              <a:rPr lang="fr-FR" sz="2800" b="1" dirty="0">
                <a:solidFill>
                  <a:schemeClr val="bg1"/>
                </a:solidFill>
              </a:rPr>
              <a:t>Chest X-Ray </a:t>
            </a:r>
            <a:r>
              <a:rPr lang="fr-FR" sz="2800" b="1" dirty="0" err="1">
                <a:solidFill>
                  <a:schemeClr val="bg1"/>
                </a:solidFill>
              </a:rPr>
              <a:t>Dataset</a:t>
            </a:r>
            <a:r>
              <a:rPr lang="fr-FR" sz="2800" dirty="0">
                <a:solidFill>
                  <a:schemeClr val="bg1"/>
                </a:solidFill>
              </a:rPr>
              <a:t> afin d’entraîner et d’évaluer le modèle Deep Learning.</a:t>
            </a:r>
          </a:p>
          <a:p>
            <a:r>
              <a:rPr lang="fr-FR" sz="2800" dirty="0">
                <a:solidFill>
                  <a:schemeClr val="bg1"/>
                </a:solidFill>
              </a:rPr>
              <a:t>Cette base de données contient des radiographies thoraciques réparties en deux catégories principales :</a:t>
            </a:r>
          </a:p>
          <a:p>
            <a:r>
              <a:rPr lang="fr-FR" sz="2800" dirty="0">
                <a:solidFill>
                  <a:schemeClr val="bg1"/>
                </a:solidFill>
              </a:rPr>
              <a:t>*Normal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</a:t>
            </a:r>
            <a:r>
              <a:rPr lang="fr-FR" sz="2800" dirty="0" err="1">
                <a:solidFill>
                  <a:schemeClr val="bg1"/>
                </a:solidFill>
              </a:rPr>
              <a:t>Pneumonia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</a:p>
          <a:p>
            <a:r>
              <a:rPr lang="fr-FR" sz="2800" dirty="0">
                <a:solidFill>
                  <a:schemeClr val="bg1"/>
                </a:solidFill>
              </a:rPr>
              <a:t>Les données sont divisées en ensembles d’entraînement, de validation et de test afin d’évaluer correctement les performances du modèle sur des images non vues pendant l’apprentissage.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60C7ABE-7A66-1AEE-BE2E-726B9EFCB023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F004FD5-DCB0-2B6F-B3FB-AE7D258FDEDF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4F716BB-2459-B5F8-1D17-477388B3AA5C}"/>
              </a:ext>
            </a:extLst>
          </p:cNvPr>
          <p:cNvSpPr/>
          <p:nvPr/>
        </p:nvSpPr>
        <p:spPr>
          <a:xfrm>
            <a:off x="8628186" y="1348202"/>
            <a:ext cx="3108724" cy="4366552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02156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0F070-70BD-8675-A2B2-A67BB020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C28F2BE9-F003-2E20-C28A-F66CBF4D9DE1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FA5C42E8-1F1F-422C-E0A0-0C61479C2C40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74EF6A12-05A0-F856-9320-E76C15C7CE5B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00AB568A-DD17-B514-4019-EE143AA9BAC7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E8C89A97-30BD-AD8A-2D23-79EA1B0B5F82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BFF71E78-E3B6-C9D6-37F6-7DF4862B8B16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FE8FA026-5D33-FDBD-725A-12E1C26D3D43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9D95AC25-BA31-41F5-EAF3-E30FE20D29E7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CEAA3DE-338A-D38C-2FAB-C1EF7B47030D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552C99C2-37C0-C289-42F6-9BA9CDA851D0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34A8C6B-34A1-E445-7921-4EAE982BC3C0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762A014-1F66-667D-8903-B7B40B3BBF92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42E484-08DE-18D3-E5FD-91A104D23216}"/>
              </a:ext>
            </a:extLst>
          </p:cNvPr>
          <p:cNvSpPr txBox="1"/>
          <p:nvPr/>
        </p:nvSpPr>
        <p:spPr>
          <a:xfrm>
            <a:off x="-1787769" y="120663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400" dirty="0">
                <a:solidFill>
                  <a:schemeClr val="bg1"/>
                </a:solidFill>
              </a:rPr>
              <a:t>Prétraitement des Données</a:t>
            </a:r>
            <a:endParaRPr lang="fr-MA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2D0196A-C01A-917C-7994-5E27BDB52667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0028458-7364-BDDD-A632-B8B306746A93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71E57BA-3BD2-333E-2AEE-A5783716E6B0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ACE80D4-632A-2862-0C03-E38B72E132EE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8B0C331-0578-71A9-06C0-51FAE0E00005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86E3578-B5A5-A0B4-2A4C-BA9716F0AB0F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403063E-5BC9-2557-49BF-BF5331D57BCF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CE36B9B-1C2E-A1D2-1794-B020A19BAAC7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1534D03-1CAA-BB76-0A9C-0D70A9FACD4A}"/>
              </a:ext>
            </a:extLst>
          </p:cNvPr>
          <p:cNvSpPr txBox="1"/>
          <p:nvPr/>
        </p:nvSpPr>
        <p:spPr>
          <a:xfrm>
            <a:off x="169282" y="1143246"/>
            <a:ext cx="87106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Avant l’entraînement du modèle Deep Learning, plusieurs étapes de prétraitement ont été appliquées afin d’améliorer les performances et la capacité de généralisation du système.</a:t>
            </a:r>
          </a:p>
          <a:p>
            <a:r>
              <a:rPr lang="fr-FR" sz="2800" dirty="0">
                <a:solidFill>
                  <a:schemeClr val="bg1"/>
                </a:solidFill>
              </a:rPr>
              <a:t>Les images médicales ont été :</a:t>
            </a:r>
          </a:p>
          <a:p>
            <a:r>
              <a:rPr lang="fr-FR" sz="2800" dirty="0">
                <a:solidFill>
                  <a:schemeClr val="bg1"/>
                </a:solidFill>
              </a:rPr>
              <a:t>*redimensionnées au format 224×224 pixels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*normalisées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*augmentées à l’aide de techniques de Data Augmentation </a:t>
            </a:r>
          </a:p>
          <a:p>
            <a:r>
              <a:rPr lang="fr-FR" sz="2800" dirty="0">
                <a:solidFill>
                  <a:schemeClr val="bg1"/>
                </a:solidFill>
              </a:rPr>
              <a:t>Ces transformations permettent de réduire le surapprentissage et d’améliorer la robustesse du modèle.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51B9F4A-09AA-B342-E26E-29C7617E7586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FE9682E5-CF3F-A9C3-35C9-224B569A74FE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EDDEBF0-CEF8-F899-0DD0-E5800C6EF238}"/>
              </a:ext>
            </a:extLst>
          </p:cNvPr>
          <p:cNvSpPr/>
          <p:nvPr/>
        </p:nvSpPr>
        <p:spPr>
          <a:xfrm>
            <a:off x="8429128" y="1143246"/>
            <a:ext cx="3478467" cy="4843845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55713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285A0-3E9F-400A-7CD6-0D244AD2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3701F2EC-0A20-25FB-892E-1AF6633C9F43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05680A7F-D041-7E8A-C53B-7D6A570D56C0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FE010779-F8E0-9415-C3EA-D8BF699D85B3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560CA6C2-635F-2B0B-BCA2-4DB0E430A1E1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F5E4382B-78A4-0E37-14B4-06A8A678E076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C035653E-8162-6503-1CD4-DD5388C3A5C5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453F335B-9FB1-2B93-A1C0-141992BBE7ED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51CF0388-5E3C-6F61-874B-135958FAC106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D5C2C2B4-AE66-2E5E-BFBB-4D0842E5CF53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4C9AB8AA-7B61-45D9-62FC-03ED0D0AAD90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18D0CB1-6E22-1B27-CA00-D7C0BA523806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155FAC8-F489-E201-2CBD-C73962D35F3A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A13AD76-5334-F410-4FC7-E296AACB59D0}"/>
              </a:ext>
            </a:extLst>
          </p:cNvPr>
          <p:cNvSpPr txBox="1"/>
          <p:nvPr/>
        </p:nvSpPr>
        <p:spPr>
          <a:xfrm>
            <a:off x="2660848" y="169872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Architecture ResNet18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A8F4811-7F49-49F2-AAE2-20F5358BDB5E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7E75A57-BAE4-02EC-7FCE-12A9924484D4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EA78A32-159E-BC46-86B2-6A86C81E3735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49FB4-1518-CE78-60E0-5FB0CC6BDBC8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A9FB27B-8E2F-A670-5372-3C608999168A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52A7200-15D1-137C-E323-2A079FA1C3D0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8015E121-36B2-245B-9FD0-62B29C7DB823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13497EA-6DC4-FA6A-6342-8DA945F5CC9C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922B2CB-5BCA-EF04-348E-57972474518C}"/>
              </a:ext>
            </a:extLst>
          </p:cNvPr>
          <p:cNvSpPr txBox="1"/>
          <p:nvPr/>
        </p:nvSpPr>
        <p:spPr>
          <a:xfrm>
            <a:off x="169282" y="1143246"/>
            <a:ext cx="87106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Le modèle principal utilisé dans ce projet est </a:t>
            </a:r>
            <a:r>
              <a:rPr lang="fr-FR" sz="2800" b="1" dirty="0">
                <a:solidFill>
                  <a:schemeClr val="bg1"/>
                </a:solidFill>
              </a:rPr>
              <a:t>ResNet18</a:t>
            </a:r>
            <a:r>
              <a:rPr lang="fr-FR" sz="2800" dirty="0">
                <a:solidFill>
                  <a:schemeClr val="bg1"/>
                </a:solidFill>
              </a:rPr>
              <a:t>, une architecture de réseau de neurones convolutifs (CNN) largement utilisée dans le domaine de la vision par ordinateur.</a:t>
            </a:r>
          </a:p>
          <a:p>
            <a:r>
              <a:rPr lang="fr-FR" sz="2800" dirty="0">
                <a:solidFill>
                  <a:schemeClr val="bg1"/>
                </a:solidFill>
              </a:rPr>
              <a:t>ResNet18 utilise des </a:t>
            </a:r>
            <a:r>
              <a:rPr lang="fr-FR" sz="2800" b="1" dirty="0">
                <a:solidFill>
                  <a:schemeClr val="bg1"/>
                </a:solidFill>
              </a:rPr>
              <a:t>connexions résiduelles (</a:t>
            </a:r>
            <a:r>
              <a:rPr lang="fr-FR" sz="2800" b="1" dirty="0" err="1">
                <a:solidFill>
                  <a:schemeClr val="bg1"/>
                </a:solidFill>
              </a:rPr>
              <a:t>Residual</a:t>
            </a:r>
            <a:r>
              <a:rPr lang="fr-FR" sz="2800" b="1" dirty="0">
                <a:solidFill>
                  <a:schemeClr val="bg1"/>
                </a:solidFill>
              </a:rPr>
              <a:t> Connections)</a:t>
            </a:r>
            <a:r>
              <a:rPr lang="fr-FR" sz="2800" dirty="0">
                <a:solidFill>
                  <a:schemeClr val="bg1"/>
                </a:solidFill>
              </a:rPr>
              <a:t> permettant de faciliter l’apprentissage des réseaux profonds et de réduire le problème de disparition du gradient.</a:t>
            </a:r>
          </a:p>
          <a:p>
            <a:r>
              <a:rPr lang="fr-FR" sz="2800" dirty="0">
                <a:solidFill>
                  <a:schemeClr val="bg1"/>
                </a:solidFill>
              </a:rPr>
              <a:t>Dans ce projet, le modèle pré-entraîné ResNet18 a été utilisé dans le cadre du </a:t>
            </a:r>
            <a:r>
              <a:rPr lang="fr-FR" sz="2800" b="1" dirty="0">
                <a:solidFill>
                  <a:schemeClr val="bg1"/>
                </a:solidFill>
              </a:rPr>
              <a:t>Transfer Learning</a:t>
            </a:r>
            <a:r>
              <a:rPr lang="fr-FR" sz="2800" dirty="0">
                <a:solidFill>
                  <a:schemeClr val="bg1"/>
                </a:solidFill>
              </a:rPr>
              <a:t> afin d’améliorer les performances et accélérer l’entraînement.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8ABB4C8-F255-3CEA-B9F9-D84C837089B1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DF22E701-03E0-7E1A-4A62-7D4FED9CD4F0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CDB8951-CDFC-8D79-FBCF-1339486E2994}"/>
              </a:ext>
            </a:extLst>
          </p:cNvPr>
          <p:cNvSpPr/>
          <p:nvPr/>
        </p:nvSpPr>
        <p:spPr>
          <a:xfrm>
            <a:off x="8524437" y="1000492"/>
            <a:ext cx="3478467" cy="4843845"/>
          </a:xfrm>
          <a:prstGeom prst="roundRect">
            <a:avLst>
              <a:gd name="adj" fmla="val 44303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4753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0E070-D06A-BB48-86C6-39EBA7A0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F2B75AB5-C355-F0A7-03F1-503A1D6322D2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0A07C254-4B9A-4340-4973-07A0D10F17B6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BFF690B5-50BE-47D7-C2E8-542CB0F6C51A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95D289AC-F9F1-8B2A-350F-82B437043524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BA2F6B3E-3D0A-5EFA-AB7D-783266563CEB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FF21B8A6-9479-8BD4-2A40-945C981474F2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577EAF16-7C48-C86B-0DA7-5CC9012D6FE1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7F8483FB-5DEE-23FC-0100-BF25EB6C17C1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6947C149-0C2B-2E05-5FB9-C0F67AFDC59F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3AD0FD85-13A2-1CF9-16D9-92B70F4268C8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2C4EFB1-1022-8FB0-78D4-7D44E1854AF6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4BAC646-CF1F-D468-81D9-69502066F481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60A70D-C2F2-E79B-7B79-F487D7A14643}"/>
              </a:ext>
            </a:extLst>
          </p:cNvPr>
          <p:cNvSpPr txBox="1"/>
          <p:nvPr/>
        </p:nvSpPr>
        <p:spPr>
          <a:xfrm>
            <a:off x="2660848" y="169872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Entraînement du Modèle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23427D3-D115-FD8D-444D-4979F32C19A0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135B386-F0F2-9AE5-940A-82D29FCF6948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A6A84A4-C8B0-C89D-5964-42CB277AE735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6144728-DAE2-1F8D-5838-2457CC3CEA07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5B617D0-27BF-5A01-5D52-D2240BEBD155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579EFD4-ED36-2785-C060-14B8BAE44F91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AFE7EC5-5837-5D9C-667C-6BCBAA140C70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A83D7DC-6232-5559-3233-826AC8B440B6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2819069-3585-5BD0-4BF5-B08459CB2D6B}"/>
              </a:ext>
            </a:extLst>
          </p:cNvPr>
          <p:cNvSpPr txBox="1"/>
          <p:nvPr/>
        </p:nvSpPr>
        <p:spPr>
          <a:xfrm>
            <a:off x="227662" y="1069104"/>
            <a:ext cx="87106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Le modèle Deep Learning a été entraîné à l’aide du </a:t>
            </a:r>
            <a:r>
              <a:rPr lang="fr-FR" sz="2800" dirty="0" err="1">
                <a:solidFill>
                  <a:schemeClr val="bg1"/>
                </a:solidFill>
              </a:rPr>
              <a:t>framework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  <a:r>
              <a:rPr lang="fr-FR" sz="2800" dirty="0" err="1">
                <a:solidFill>
                  <a:schemeClr val="bg1"/>
                </a:solidFill>
              </a:rPr>
              <a:t>PyTorch</a:t>
            </a:r>
            <a:r>
              <a:rPr lang="fr-FR" sz="2800" dirty="0">
                <a:solidFill>
                  <a:schemeClr val="bg1"/>
                </a:solidFill>
              </a:rPr>
              <a:t> sur le </a:t>
            </a:r>
            <a:r>
              <a:rPr lang="fr-FR" sz="2800" dirty="0" err="1">
                <a:solidFill>
                  <a:schemeClr val="bg1"/>
                </a:solidFill>
              </a:rPr>
              <a:t>dataset</a:t>
            </a:r>
            <a:r>
              <a:rPr lang="fr-FR" sz="2800" dirty="0">
                <a:solidFill>
                  <a:schemeClr val="bg1"/>
                </a:solidFill>
              </a:rPr>
              <a:t> Chest X-Ray.</a:t>
            </a:r>
          </a:p>
          <a:p>
            <a:r>
              <a:rPr lang="fr-FR" sz="2800" dirty="0">
                <a:solidFill>
                  <a:schemeClr val="bg1"/>
                </a:solidFill>
              </a:rPr>
              <a:t>L’apprentissage a été réalisé avec :</a:t>
            </a:r>
          </a:p>
          <a:p>
            <a:r>
              <a:rPr lang="fr-FR" sz="2800" dirty="0">
                <a:solidFill>
                  <a:schemeClr val="bg1"/>
                </a:solidFill>
              </a:rPr>
              <a:t>*la fonction de perte </a:t>
            </a:r>
            <a:r>
              <a:rPr lang="fr-FR" sz="2800" b="1" dirty="0" err="1">
                <a:solidFill>
                  <a:schemeClr val="bg1"/>
                </a:solidFill>
              </a:rPr>
              <a:t>BCEWithLogitsLoss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*L’optimiseur </a:t>
            </a:r>
            <a:r>
              <a:rPr lang="fr-FR" sz="2800" b="1" dirty="0">
                <a:solidFill>
                  <a:schemeClr val="bg1"/>
                </a:solidFill>
              </a:rPr>
              <a:t>Adam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*plusieurs </a:t>
            </a:r>
            <a:r>
              <a:rPr lang="fr-FR" sz="2800" dirty="0" err="1">
                <a:solidFill>
                  <a:schemeClr val="bg1"/>
                </a:solidFill>
              </a:rPr>
              <a:t>epochs</a:t>
            </a:r>
            <a:r>
              <a:rPr lang="fr-FR" sz="2800" dirty="0">
                <a:solidFill>
                  <a:schemeClr val="bg1"/>
                </a:solidFill>
              </a:rPr>
              <a:t> d’entraînement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*une accélération GPU lorsque disponible </a:t>
            </a:r>
          </a:p>
          <a:p>
            <a:r>
              <a:rPr lang="fr-FR" sz="2800" dirty="0">
                <a:solidFill>
                  <a:schemeClr val="bg1"/>
                </a:solidFill>
              </a:rPr>
              <a:t>Cette phase permet au modèle d’apprendre à distinguer automatiquement les radiographies normales des cas de pneumonie.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6339E79-22AA-ED49-3024-F936ECA44A83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CD2BE05-F616-3E14-B6B1-D2AF6860F651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C99FE2E-23A2-1D28-5823-07791CF0AC73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44303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768238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32C2B-B6B4-8DD9-11F9-84F97D40F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99CDEEDB-A9C8-8032-72C0-5E9BC3412282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3B378534-BE6B-B53A-D082-8876A534F954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16933B70-DBAF-778C-1A5B-3FE549272E22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9BE783EC-3464-2B5B-FF5E-2E6B2D3AC786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56486C0C-0C12-9BAA-DBA0-16FEE6091200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3B89C1FE-B8CB-0936-D95C-26EC5D748A79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F528062E-271D-8646-9658-68AC45B1D19D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32C4B1DA-CF03-F7E6-D165-D6C6957AB549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3BE1509-A183-6C09-7898-EBDDB4754675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FE5FACAA-27B0-23FD-4569-FE2291B93318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BD6ED5F-77AA-303C-71B4-C76942DAA127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719D84D-8004-359D-3E17-7E887A587DEE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4DAB7A-7ED3-9082-441F-27F5FE55F712}"/>
              </a:ext>
            </a:extLst>
          </p:cNvPr>
          <p:cNvSpPr txBox="1"/>
          <p:nvPr/>
        </p:nvSpPr>
        <p:spPr>
          <a:xfrm>
            <a:off x="2660848" y="169872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Résultats du Modèle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438D9B8-FAD5-1E77-263A-57777765969D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277C8D0-DD88-99A9-1338-D62102047A8C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CFF6891-4563-91A4-8A9C-A01862D19E25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8768F13-CA92-C572-F02E-822D81D44432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F17012B-4816-53F2-73A8-74DF27F55E99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8BAE0D0-D8CF-ED83-EEA8-5D9ED9E63090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D696C4F-875D-3C74-8058-8D27597CC069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0CD9C6B-02DB-5A8E-B579-517B0610F125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7E8441F-1B0E-F0F1-4A4B-4D39E1C8CF35}"/>
              </a:ext>
            </a:extLst>
          </p:cNvPr>
          <p:cNvSpPr txBox="1"/>
          <p:nvPr/>
        </p:nvSpPr>
        <p:spPr>
          <a:xfrm>
            <a:off x="227662" y="1069104"/>
            <a:ext cx="73540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Après l’entraînement, le modèle Deep Learning a obtenu des performances prometteuses dans la classification des radiographies thoraciques.</a:t>
            </a:r>
          </a:p>
          <a:p>
            <a:r>
              <a:rPr lang="fr-FR" sz="2800" dirty="0">
                <a:solidFill>
                  <a:schemeClr val="bg1"/>
                </a:solidFill>
              </a:rPr>
              <a:t>Les résultats montrent la capacité du système à distinguer efficacement :</a:t>
            </a:r>
          </a:p>
          <a:p>
            <a:r>
              <a:rPr lang="fr-FR" sz="2800" dirty="0">
                <a:solidFill>
                  <a:schemeClr val="bg1"/>
                </a:solidFill>
              </a:rPr>
              <a:t>*les cas normaux </a:t>
            </a:r>
          </a:p>
          <a:p>
            <a:r>
              <a:rPr lang="fr-FR" sz="2800" dirty="0">
                <a:solidFill>
                  <a:schemeClr val="bg1"/>
                </a:solidFill>
              </a:rPr>
              <a:t>*les cas de pneumonie </a:t>
            </a:r>
          </a:p>
          <a:p>
            <a:r>
              <a:rPr lang="fr-FR" sz="2800" dirty="0">
                <a:solidFill>
                  <a:schemeClr val="bg1"/>
                </a:solidFill>
              </a:rPr>
              <a:t>Plusieurs métriques ont été utilisées afin d’évaluer les performances du modèle.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49979AC-B740-CB24-7535-54CD96B3E4B6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91595C7-9A1D-A3F8-0DBF-163471FC3ED1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A106833-76C0-B2D5-C478-DF161E7B7CB0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44303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13778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D4FAF-BD6C-EEA8-A285-71360793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450D8724-4F43-FAAE-636E-9808073C86B9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2CB7933-5143-4CC3-3276-CF22CDF53A5D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AAA9B137-0BF0-0769-B290-DE2AA28B5DA4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4E92760A-6F4A-5B5B-E08E-E440498D8622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BFF8749E-EC24-C906-73B3-56C871BE80DA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2E2834E9-B3FF-79A6-652A-95003F6FF699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66B483A-A96A-5878-D68C-0B900517FDE3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F0AF4CBA-9210-6FBC-FAD4-A72C3633D5CB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1CA268C0-329A-0249-E0E2-AF3B9D321D91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AFB7D5DA-B305-3945-5541-3421CAEBF56E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4504617-A9D8-8BBE-54B6-27259B4A6FFA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1D5FC57-B3EE-2E42-43EE-A5D703A2FDC4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67015B-09F8-1A60-8C5E-4F8194950A36}"/>
              </a:ext>
            </a:extLst>
          </p:cNvPr>
          <p:cNvSpPr txBox="1"/>
          <p:nvPr/>
        </p:nvSpPr>
        <p:spPr>
          <a:xfrm>
            <a:off x="2215371" y="217866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 err="1">
                <a:solidFill>
                  <a:schemeClr val="bg1"/>
                </a:solidFill>
              </a:rPr>
              <a:t>Explainable</a:t>
            </a:r>
            <a:r>
              <a:rPr lang="fr-MA" sz="4400" dirty="0">
                <a:solidFill>
                  <a:schemeClr val="bg1"/>
                </a:solidFill>
              </a:rPr>
              <a:t> AI avec Grad-CAM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8EA2B33-9157-223E-242E-BF6464993E43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BBE911D-241B-5CC1-EE7C-8B83E0E584CB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2E98C86-33E1-C08D-0294-5C4E76616360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6FFBE44-6DE2-1FDA-2C67-23B096CFAA11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565BF35-7D4B-AF41-EC74-D42F41BB9BE1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C68B55A-E1F0-4EA4-06A9-BFACE4823CCF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6ABF1F61-F862-822F-E866-8C54223ED17B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2553791-0BD7-26A3-D988-BBA604DF20D5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DB6BB85-1B57-8F16-AC3A-948D2740B74F}"/>
              </a:ext>
            </a:extLst>
          </p:cNvPr>
          <p:cNvSpPr txBox="1"/>
          <p:nvPr/>
        </p:nvSpPr>
        <p:spPr>
          <a:xfrm>
            <a:off x="114535" y="987307"/>
            <a:ext cx="73540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Les modèles de Deep Learning sont souvent considérés comme des systèmes « boîte noire » car leurs décisions sont difficiles à interpréter.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Afin d’améliorer la transparence du système, la technique </a:t>
            </a:r>
            <a:r>
              <a:rPr lang="fr-FR" sz="2400" b="1" dirty="0">
                <a:solidFill>
                  <a:schemeClr val="bg1"/>
                </a:solidFill>
              </a:rPr>
              <a:t>Grad-CAM</a:t>
            </a:r>
            <a:r>
              <a:rPr lang="fr-FR" sz="2400" dirty="0">
                <a:solidFill>
                  <a:schemeClr val="bg1"/>
                </a:solidFill>
              </a:rPr>
              <a:t> a été intégrée dans le projet.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Grad-CAM permet de générer des </a:t>
            </a:r>
            <a:r>
              <a:rPr lang="fr-FR" sz="2400" dirty="0" err="1">
                <a:solidFill>
                  <a:schemeClr val="bg1"/>
                </a:solidFill>
              </a:rPr>
              <a:t>heatmaps</a:t>
            </a:r>
            <a:r>
              <a:rPr lang="fr-FR" sz="2400" dirty="0">
                <a:solidFill>
                  <a:schemeClr val="bg1"/>
                </a:solidFill>
              </a:rPr>
              <a:t> mettant en évidence les régions importantes de la radiographie utilisées par le modèle lors de la prise de décision.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Cette approche améliore l’interprétabilité des prédictions et augmente la confiance des médecins dans le système.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8E1D767-A689-DA64-1D32-77E7EFA5BA6C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71ECA8D-3D5E-F92C-3210-82207EFECF70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EE2E046-11DC-04C1-D8C2-6C078DB9B95D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41493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CF650-1A09-C5CF-38B3-F99BFBCE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E1E4B0C2-720F-5A9B-5891-5C7008C2E43B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FEFE9DBD-940F-B663-EDAD-EA05603C682E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BC727CD6-8327-6493-9CA7-4BF85E819B6C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7A596C08-2EC0-7BCD-1DE5-0B5B5265DA7B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DEB77BCD-09AE-9619-C117-D0B6AA34147B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647F6AAA-F2FF-C36C-A5BF-3E9A1EF4160F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2DA441B1-6C7D-011D-8852-6150C21F30CB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49A7DEE4-5891-D907-AC5B-D52082C186D8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E21AA854-7832-EFA9-F062-0ECF7162B084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BC8D1DF2-D8CA-F401-FED3-D92FBEB15649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672BEBF-FD9C-B9C2-4BB9-CA2AF2C5732E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EC90314-292A-8015-62B7-C4C7D690B456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C70C884-FD2D-45F5-0C52-E22D852DA2C9}"/>
              </a:ext>
            </a:extLst>
          </p:cNvPr>
          <p:cNvSpPr txBox="1"/>
          <p:nvPr/>
        </p:nvSpPr>
        <p:spPr>
          <a:xfrm>
            <a:off x="3241899" y="31018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Human-in-the-Loop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816D7D0-7C0D-93B1-BAC3-3A84E7FF2604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49A7D9F-CF8B-71BE-36B4-E8F378F6FB7C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E145E39-93C5-002F-C2E0-C746E2494828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B30056E-75DB-D306-63B7-C249081CE3C3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0AE05E2-7A00-80F0-0682-CCA09CF36A89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1905083E-AF03-141B-23D0-F62033916B7D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3001957-0B63-2E81-FDDC-DC0F8249AF6F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BE697A0-D7A9-8EB0-8A8A-66530C3FBC3F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5A86A79-0DC3-3970-480D-A8BD11FE321B}"/>
              </a:ext>
            </a:extLst>
          </p:cNvPr>
          <p:cNvSpPr txBox="1"/>
          <p:nvPr/>
        </p:nvSpPr>
        <p:spPr>
          <a:xfrm>
            <a:off x="114535" y="987307"/>
            <a:ext cx="73540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Dans le domaine médical, l’intelligence artificielle ne doit pas remplacer le médecin, mais plutôt agir comme un outil d’assistance au diagnostic.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L’approche </a:t>
            </a:r>
            <a:r>
              <a:rPr lang="fr-FR" sz="2400" b="1" dirty="0">
                <a:solidFill>
                  <a:schemeClr val="bg1"/>
                </a:solidFill>
              </a:rPr>
              <a:t>Human-in-the-Loop</a:t>
            </a:r>
            <a:r>
              <a:rPr lang="fr-FR" sz="2400" dirty="0">
                <a:solidFill>
                  <a:schemeClr val="bg1"/>
                </a:solidFill>
              </a:rPr>
              <a:t> permet de maintenir le médecin au centre du processus de décision médicale.</a:t>
            </a:r>
          </a:p>
          <a:p>
            <a:r>
              <a:rPr lang="fr-FR" sz="2400" dirty="0">
                <a:solidFill>
                  <a:schemeClr val="bg1"/>
                </a:solidFill>
              </a:rPr>
              <a:t>Dans notre système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*l’IA analyse automatiquement les radiographies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*Grad-CAM explique les prédictions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 médecin valide les résultats avant toute décision     clinique finale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Cette collaboration entre l’intelligence artificielle et l’expertise humaine améliore la fiabilité et la sécurité du système.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4D16743-ECB6-D07C-49FA-EDB2860D491A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6E106F7-437A-A854-3AA6-C6F3D194DEBB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13AE0F7-1689-1FFB-1600-63B930425954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531978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6A551-E4C6-913A-790C-0F62E041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00FFD1-227D-CB55-25EE-A1A59E06EEBB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2A6B4041-5DA8-B6AC-E98A-2BA8953EDC22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4E38C192-C152-86DF-7067-6F11269E17AF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11F9B1DC-CF99-E9D7-E47D-C75A31EE05E0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51D36598-67B8-B9A5-552A-50501EB5E0FD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2FF2183C-C5F4-4E01-7EC2-A5A80C714650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CB0DC6C-2848-9DF1-BC01-8666A5198351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071D0730-A999-BEAD-5B9A-85C615430874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FCA03CAE-FCE9-7CA9-2EC3-2BD0950940C4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5011B4A5-81A7-FDBD-427D-B02BCF15C65F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1A93D4E-7C5B-DE91-4BC9-A4976061D1D9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EC6232D-593D-13F1-DB4D-72FF26AEC8D0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1D868C-0F71-DAA7-FD07-D8F34CD92EF7}"/>
              </a:ext>
            </a:extLst>
          </p:cNvPr>
          <p:cNvSpPr txBox="1"/>
          <p:nvPr/>
        </p:nvSpPr>
        <p:spPr>
          <a:xfrm>
            <a:off x="1936504" y="31331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Architecture Générale du Système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F431291-FEFF-9244-8478-35467FEEEF39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69466CB-FC43-61B0-8160-61D8445B7BF5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11C3299-F67E-6151-D1BB-8CDA8CBA842F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CEC0A3C-0AB8-F3F9-6DA4-3EB9D960C938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F59C610-CB17-84B4-E75D-28BF3B81F46E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4823D0A-4FC5-17DE-E29B-38B4A9C44AC4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0253750-03AE-6AAF-85C6-C85CEB4AF584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83C966E-D691-90B9-34F5-7BAB41AEE0EA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DEFB09C-4222-7BAC-8C59-5F0C6D0E6CD8}"/>
              </a:ext>
            </a:extLst>
          </p:cNvPr>
          <p:cNvSpPr txBox="1"/>
          <p:nvPr/>
        </p:nvSpPr>
        <p:spPr>
          <a:xfrm>
            <a:off x="0" y="1340509"/>
            <a:ext cx="73540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système AI </a:t>
            </a:r>
            <a:r>
              <a:rPr lang="fr-FR" sz="2400" dirty="0" err="1">
                <a:solidFill>
                  <a:schemeClr val="bg1"/>
                </a:solidFill>
              </a:rPr>
              <a:t>Medical</a:t>
            </a:r>
            <a:r>
              <a:rPr lang="fr-FR" sz="2400" dirty="0">
                <a:solidFill>
                  <a:schemeClr val="bg1"/>
                </a:solidFill>
              </a:rPr>
              <a:t> Assistant repose sur une architecture moderne de type client-serveur combinant plusieurs modules interconnectés.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L’architecture comprend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*un frontend développé avec Next.js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*un backend </a:t>
            </a:r>
            <a:r>
              <a:rPr lang="fr-FR" sz="2400" dirty="0" err="1">
                <a:solidFill>
                  <a:schemeClr val="bg1"/>
                </a:solidFill>
              </a:rPr>
              <a:t>FastAPI</a:t>
            </a:r>
            <a:r>
              <a:rPr lang="fr-FR" sz="2400" dirty="0">
                <a:solidFill>
                  <a:schemeClr val="bg1"/>
                </a:solidFill>
              </a:rPr>
              <a:t> basé sur des API REST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*un modèle Deep Learning ResNet18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*une base de données SQLite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Cette structure permet une communication fluide entre les utilisateurs, le système d’intelligence artificielle et les données médicales.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2927E1F-F674-29D2-B867-D2AC6223F480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A68DA9D-F795-3C54-92B7-54584EF0680C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8092EE0-DA5E-6E50-4CDE-A0D85EA916A1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791030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6DF81-327A-2861-3EF6-88C2E528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FAAEE460-0A8B-7CDB-B8F3-E04DF09FE856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62956945-31BB-92C3-26C7-0837CEC498EE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DCCD42E7-5EFC-71A0-626D-8C2166D75C21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0007FC5C-C554-9E65-03B7-9C3E0E049DEF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934C6B97-0604-8011-F6E3-FCA9E4A89258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73B36A63-FCDD-104A-11FA-2C36EDE9EAA4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CF805016-6C9A-C665-288B-B2B7E5E70DCE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2D30A6B2-4D7B-2D31-A7EF-7498CE9BB889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188E91FA-CCCA-FDB4-C4DC-739B8D3718E0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148B3D33-4F8B-BA47-AB96-522EE2D54650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BCA9793-41B1-DACE-35CC-BA8B006AC7D8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78BFFC8-8072-F05D-F0E4-88B1D54D3E6D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A833240-CBD9-4FB9-F732-178D0F1ADB09}"/>
              </a:ext>
            </a:extLst>
          </p:cNvPr>
          <p:cNvSpPr txBox="1"/>
          <p:nvPr/>
        </p:nvSpPr>
        <p:spPr>
          <a:xfrm>
            <a:off x="3118573" y="54777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Architecture Frontend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F78E555-C62F-AA65-5EE3-642244517563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5A0AFE6-FAB5-B5C7-92D0-6244266E110A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2929595-AE01-6578-BA6B-1254768098BC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41D8AFD-355B-649F-43F3-00B782BE8681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B8685FB-B4CD-C93F-7875-B92790B934DD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A1C002B-A65A-8609-0E8A-EE1065677965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F77E657-0FC7-5C38-4955-9F77B4E2610E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17FD28E-B2B8-35C6-96AC-AFF0D249E746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B18A469-D6BA-4B90-1B41-36053E7F5A60}"/>
              </a:ext>
            </a:extLst>
          </p:cNvPr>
          <p:cNvSpPr txBox="1"/>
          <p:nvPr/>
        </p:nvSpPr>
        <p:spPr>
          <a:xfrm>
            <a:off x="114535" y="824218"/>
            <a:ext cx="73540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frontend de l’application a été développé avec </a:t>
            </a:r>
            <a:r>
              <a:rPr lang="fr-FR" sz="2400" b="1" dirty="0">
                <a:solidFill>
                  <a:schemeClr val="bg1"/>
                </a:solidFill>
              </a:rPr>
              <a:t>Next.js</a:t>
            </a:r>
            <a:r>
              <a:rPr lang="fr-FR" sz="2400" dirty="0">
                <a:solidFill>
                  <a:schemeClr val="bg1"/>
                </a:solidFill>
              </a:rPr>
              <a:t> et </a:t>
            </a:r>
            <a:r>
              <a:rPr lang="fr-FR" sz="2400" b="1" dirty="0" err="1">
                <a:solidFill>
                  <a:schemeClr val="bg1"/>
                </a:solidFill>
              </a:rPr>
              <a:t>TypeScript</a:t>
            </a:r>
            <a:r>
              <a:rPr lang="fr-FR" sz="2400" dirty="0">
                <a:solidFill>
                  <a:schemeClr val="bg1"/>
                </a:solidFill>
              </a:rPr>
              <a:t> afin de fournir une interface utilisateur moderne, rapide et responsive.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L’interface permet aux médecins et aux patients d’accéder facilement aux différentes fonctionnalités du système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*authentification sécurisée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*gestion des patients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*visualisation des analyses médicales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*affichage des </a:t>
            </a:r>
            <a:r>
              <a:rPr lang="fr-FR" sz="2400" dirty="0" err="1">
                <a:solidFill>
                  <a:schemeClr val="bg1"/>
                </a:solidFill>
              </a:rPr>
              <a:t>heatmaps</a:t>
            </a:r>
            <a:r>
              <a:rPr lang="fr-FR" sz="2400" dirty="0">
                <a:solidFill>
                  <a:schemeClr val="bg1"/>
                </a:solidFill>
              </a:rPr>
              <a:t> Grad-CAM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*interaction avec le </a:t>
            </a:r>
            <a:r>
              <a:rPr lang="fr-FR" sz="2400" dirty="0" err="1">
                <a:solidFill>
                  <a:schemeClr val="bg1"/>
                </a:solidFill>
              </a:rPr>
              <a:t>chatbot</a:t>
            </a:r>
            <a:r>
              <a:rPr lang="fr-FR" sz="2400" dirty="0">
                <a:solidFill>
                  <a:schemeClr val="bg1"/>
                </a:solidFill>
              </a:rPr>
              <a:t> médical 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 design de l’interface a été réalisé avec </a:t>
            </a:r>
            <a:r>
              <a:rPr lang="fr-FR" sz="2400" b="1" dirty="0" err="1">
                <a:solidFill>
                  <a:schemeClr val="bg1"/>
                </a:solidFill>
              </a:rPr>
              <a:t>Tailwind</a:t>
            </a:r>
            <a:r>
              <a:rPr lang="fr-FR" sz="2400" b="1" dirty="0">
                <a:solidFill>
                  <a:schemeClr val="bg1"/>
                </a:solidFill>
              </a:rPr>
              <a:t> CSS</a:t>
            </a:r>
            <a:r>
              <a:rPr lang="fr-FR" sz="2400" dirty="0">
                <a:solidFill>
                  <a:schemeClr val="bg1"/>
                </a:solidFill>
              </a:rPr>
              <a:t> afin d’assurer une expérience utilisateur fluide et professionnelle.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AC50F5C-3FF7-CEE6-91BB-613E0D676D55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41A4E78-4CEA-19FA-A7ED-9FD6994B0F1D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B94620D-8311-5178-4396-CEAE65D332DB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381169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F458F-AAAA-829B-7728-616BB453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4FF46D26-5CB8-C6FD-5D82-34C7B0A022CC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BA6B590-CD10-3FA6-D706-AC1A2380FE66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45AB225F-458B-1B16-74A4-B9ED2E73B52D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13F7FF44-0BBC-6EF7-B65B-CD9039A4C526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0C664E75-DCB3-1D97-4106-8B93E853A108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5AE0E077-D137-68F6-A40A-E60D07CCBAE2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A8396505-3165-409E-7461-3E34162E02F5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E628BA1D-BB50-E67A-10DA-4FDA918A4732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0A9016AB-9C65-E473-5137-09D351F9F8CD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00CB50B-B7E5-36B2-426A-2B5FEC51B0FB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BBFD1A0-918E-43C3-A3F1-5C66B39466D1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75784B9-9F11-768A-328F-12F07E496F34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65D733-2369-0793-7228-2BEC40630136}"/>
              </a:ext>
            </a:extLst>
          </p:cNvPr>
          <p:cNvSpPr txBox="1"/>
          <p:nvPr/>
        </p:nvSpPr>
        <p:spPr>
          <a:xfrm>
            <a:off x="2999232" y="54777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Authentification &amp; Sécurité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86B6A27-2B3B-351A-10D4-6003094DA578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B170B36-40AD-8F69-A243-DD966122D552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9E565E84-AB0D-3C0F-1896-F404271AE135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31E9135-5557-B5C0-FBF7-596727A306BB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B5FA0FC-274F-B4B2-45C8-0FC37C213974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B6137D8-F203-D51A-32A1-D758BD9A22F3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0069517-1CF3-6B01-5B80-44B72D939AD7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7E398FD-A183-22BB-678C-865602E66BBE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A6E4A39-A265-78BB-F6B3-09EA3BE14B33}"/>
              </a:ext>
            </a:extLst>
          </p:cNvPr>
          <p:cNvSpPr txBox="1"/>
          <p:nvPr/>
        </p:nvSpPr>
        <p:spPr>
          <a:xfrm>
            <a:off x="114535" y="824218"/>
            <a:ext cx="75231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système intègre un mécanisme d’authentification sécurisé basé sur </a:t>
            </a:r>
            <a:r>
              <a:rPr lang="fr-FR" sz="2400" b="1" dirty="0">
                <a:solidFill>
                  <a:schemeClr val="bg1"/>
                </a:solidFill>
              </a:rPr>
              <a:t>JWT (JSON Web </a:t>
            </a:r>
            <a:r>
              <a:rPr lang="fr-FR" sz="2400" b="1" dirty="0" err="1">
                <a:solidFill>
                  <a:schemeClr val="bg1"/>
                </a:solidFill>
              </a:rPr>
              <a:t>Token</a:t>
            </a:r>
            <a:r>
              <a:rPr lang="fr-FR" sz="2400" b="1" dirty="0">
                <a:solidFill>
                  <a:schemeClr val="bg1"/>
                </a:solidFill>
              </a:rPr>
              <a:t>)</a:t>
            </a:r>
            <a:r>
              <a:rPr lang="fr-FR" sz="2400" dirty="0">
                <a:solidFill>
                  <a:schemeClr val="bg1"/>
                </a:solidFill>
              </a:rPr>
              <a:t> afin de protéger les données médicales et les routes sensibles de l’application.</a:t>
            </a:r>
          </a:p>
          <a:p>
            <a:r>
              <a:rPr lang="fr-FR" sz="2400" dirty="0">
                <a:solidFill>
                  <a:schemeClr val="bg1"/>
                </a:solidFill>
              </a:rPr>
              <a:t>Deux types d’utilisateurs sont gérés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*les médecins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*les patients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Chaque utilisateur dispose d’autorisations spécifiques selon son rôle, garantissant ainsi une meilleure sécurité et organisation du système.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Cette approche permet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*une gestion sécurisée des sessions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*la protection des données médicales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*un contrôle d’accès aux fonctionnalités sensibles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0446E71-2FEF-5E93-9961-2A348B59FCAE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6E20E26-EAD8-FAEF-03C9-C1C8F40ABD47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ABABE7A-8FF6-5E09-5D1C-19EA3ED28446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990134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D3A3D-2FB9-DE4B-9097-86007D4A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1A03359D-17AE-A54D-EC4D-E96524BE539D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0E04EFD8-EDE9-B651-47B9-C60056C2C3EF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9FB196B4-F770-22FC-E179-18DD8B9C0D4C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B71C8345-AFAC-BFDD-0F31-9BAEC0F55782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F43A8B5E-82DE-265F-55A6-7C4AFDDA70ED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1E541BAD-C96D-6441-2C87-96BB2C539035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6A5515C2-B3A1-49AB-641A-86C9D6BECDB6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B3BFE997-599B-6CEE-AF0B-13EFF1C0966E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D22ECC25-B681-6349-7A36-0109ADCE548C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B2AE9DE4-4FC2-2DD9-725B-C7D59D5A41AD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4185DC1-AD5F-1F4D-D930-75C8CE9FB06E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E8CD899-D4C7-C0F4-6838-95421DFB1D88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A55497-8244-DB44-22A3-7C1FF8A96188}"/>
              </a:ext>
            </a:extLst>
          </p:cNvPr>
          <p:cNvSpPr txBox="1"/>
          <p:nvPr/>
        </p:nvSpPr>
        <p:spPr>
          <a:xfrm>
            <a:off x="2999232" y="54777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 err="1">
                <a:solidFill>
                  <a:schemeClr val="bg1"/>
                </a:solidFill>
              </a:rPr>
              <a:t>Chatbot</a:t>
            </a:r>
            <a:r>
              <a:rPr lang="fr-MA" sz="4400" dirty="0">
                <a:solidFill>
                  <a:schemeClr val="bg1"/>
                </a:solidFill>
              </a:rPr>
              <a:t> Médical Intelligent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60CA8D6-FE93-0B9A-4A0C-C0141050B347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FFB4C8B-EC34-1B85-38C8-AE7D835BF8A2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E669687-F0F8-E19A-22F8-533CA9AC7E9A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53E15DC-49CB-94E4-79F9-5D0849F1652F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FD8873E-0F11-2F4B-AD56-86353706F18D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7349FC8-7CE7-1E05-CA57-37B0D9863684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D72518B-D127-C548-B4C4-C4A37BF2F516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F01A0E6-690A-BC03-050E-79AB018C1DF1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58379DC-A4C4-30A9-6033-05220D9E1A64}"/>
              </a:ext>
            </a:extLst>
          </p:cNvPr>
          <p:cNvSpPr txBox="1"/>
          <p:nvPr/>
        </p:nvSpPr>
        <p:spPr>
          <a:xfrm>
            <a:off x="54746" y="1432419"/>
            <a:ext cx="75231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système intègre un </a:t>
            </a:r>
            <a:r>
              <a:rPr lang="fr-FR" sz="2400" dirty="0" err="1">
                <a:solidFill>
                  <a:schemeClr val="bg1"/>
                </a:solidFill>
              </a:rPr>
              <a:t>chatbot</a:t>
            </a:r>
            <a:r>
              <a:rPr lang="fr-FR" sz="2400" dirty="0">
                <a:solidFill>
                  <a:schemeClr val="bg1"/>
                </a:solidFill>
              </a:rPr>
              <a:t> médical intelligent permettant d’assister les utilisateurs dans l’utilisation de la plateforme et de fournir des informations médicales générales.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 </a:t>
            </a:r>
            <a:r>
              <a:rPr lang="fr-FR" sz="2400" dirty="0" err="1">
                <a:solidFill>
                  <a:schemeClr val="bg1"/>
                </a:solidFill>
              </a:rPr>
              <a:t>chatbot</a:t>
            </a:r>
            <a:r>
              <a:rPr lang="fr-FR" sz="2400" dirty="0">
                <a:solidFill>
                  <a:schemeClr val="bg1"/>
                </a:solidFill>
              </a:rPr>
              <a:t> communique avec le backend via des API REST et utilise des mécanismes d’intelligence artificielle afin de générer des réponses adaptées aux requêtes des utilisateurs.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Cette fonctionnalité améliore l’expérience utilisateur et facilite l’interaction avec le système médical intelligent.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92697C3-09B9-4443-877B-8A4613BF0D4F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D6973FD-7ED1-0B99-EF38-46145289C038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9E09FC8-AA20-F285-3EE3-89A41ADC0216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740038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B63B0-7627-4B78-4BBE-1E850CCF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C35AFE0E-E36B-94EE-DA76-F2B55CE8D52D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3D23EC83-A6DE-FF8B-05E3-D2F17744354F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2E122261-8E78-1D9D-1BDC-47587603DF01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4D564DB6-C45D-4EF0-567E-564AFBC6FFA2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EBF74E2B-C918-CBCD-1363-7B72BB8962AE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4DE9EEB3-9A6E-1DD0-4333-D87ED99D4B75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A21D7E25-1F11-6CA7-D43A-076B2ACCD1B3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520767A9-8C85-F4BC-E7E6-1E0137C76EDF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F486C6EE-6EDA-C0FB-53CF-6F7B0CE77B97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B13F2793-52D8-09E7-022F-A8A79BF511AC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E50F579-1B3A-5555-F133-9488F1342C53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F5FFA83-4F75-B984-9B74-378C22B5251C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EA7F26-B430-67FE-4519-28A3C195CEBF}"/>
              </a:ext>
            </a:extLst>
          </p:cNvPr>
          <p:cNvSpPr txBox="1"/>
          <p:nvPr/>
        </p:nvSpPr>
        <p:spPr>
          <a:xfrm>
            <a:off x="2202062" y="125195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Workflow des Analyses Médicales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2E43D4A-8799-C08A-181D-6DF622345097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35AFB38-D8BE-57E7-5134-5021703CE51D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0C3BDF9-258F-9FA0-9045-F7BEFFAC93E0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2F86163-033F-B116-1301-C73DB5291E39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30E450A-6671-677F-B77E-DBA501B85DAE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E028669-8FB6-E1FC-026B-2CF79F2D9348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1B72406-1D0C-62DC-BBBB-3563154134C8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5B84DA3-743E-BFF3-BE24-65A4E87BA191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A52C2F0-CA9E-1606-7B75-25FEC182C773}"/>
              </a:ext>
            </a:extLst>
          </p:cNvPr>
          <p:cNvSpPr txBox="1"/>
          <p:nvPr/>
        </p:nvSpPr>
        <p:spPr>
          <a:xfrm>
            <a:off x="54746" y="1432419"/>
            <a:ext cx="75231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L’application permet aux médecins d’ajouter et d’analyser des radiographies thoraciques directement depuis l’interface web.</a:t>
            </a:r>
          </a:p>
          <a:p>
            <a:r>
              <a:rPr lang="fr-FR" sz="2400" dirty="0">
                <a:solidFill>
                  <a:schemeClr val="bg1"/>
                </a:solidFill>
              </a:rPr>
              <a:t>Après l’envoi d’une image médicale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 modèle Deep Learning réalise une prédiction automatique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*Grad-CAM génère une </a:t>
            </a:r>
            <a:r>
              <a:rPr lang="fr-FR" sz="2400" dirty="0" err="1">
                <a:solidFill>
                  <a:schemeClr val="bg1"/>
                </a:solidFill>
              </a:rPr>
              <a:t>heatmap</a:t>
            </a:r>
            <a:r>
              <a:rPr lang="fr-FR" sz="2400" dirty="0">
                <a:solidFill>
                  <a:schemeClr val="bg1"/>
                </a:solidFill>
              </a:rPr>
              <a:t> explicative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*les résultats sont stockés dans la base de données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 médecin peut ensuite consulter et valider l’analyse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 workflow permet une assistance médicale rapide, intelligente et interprétable.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4F37D128-D413-3E2A-0235-4243623FDECA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4DA8BEF-D6C1-CB2F-A196-5AAFFDF3612C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23E0C9B-B2D2-DDBD-8752-0D2C7F5C8D30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815784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489B0-A15C-6A99-2F4E-E7095DC6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CEFD3A88-0DDD-EB28-1F57-FBB3088731C4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00302B3-8C02-F39B-CE16-5451AE2840D3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A451325D-41E6-A5AC-92DC-559C5C519F11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3053E1E6-3981-7AC4-96D8-A7BE6CCA5108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5884F035-CE59-D8B7-33CF-904AB8C04D3F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1409C82F-78A4-DEE0-2C92-B21031AB25B3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2A59A26E-49E3-9198-563A-3DAE54F71A96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1E74D1C5-9F09-37C0-C340-F1111822E7D9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626C37B5-54CE-CA73-7402-44F1828CF215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88AA286A-41D3-5180-C0D6-D5AE10789FE8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F760FA9-8C2B-BE3E-A3B1-EA865F802FDF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3E63A90-E105-3A05-AC72-3DB9117FF9F0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AEE52C-3CE1-22C3-9D8D-9A9CEE5E446A}"/>
              </a:ext>
            </a:extLst>
          </p:cNvPr>
          <p:cNvSpPr txBox="1"/>
          <p:nvPr/>
        </p:nvSpPr>
        <p:spPr>
          <a:xfrm>
            <a:off x="3241899" y="171604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Base de Données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AF6981A-270A-C764-29D7-9052EB84A8D4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323AEC5-DBDF-DB3D-92A7-D4CF84AB4C00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905E91B-001B-187B-43D3-CA803DAB6EB8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B7C9E70-5863-EE40-1ACB-533B5D59E616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7E2DF6C-C4CA-927E-5B41-2C5371D58B73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F2755F5-19FC-529E-D142-FDF6FF06633F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852DA09-7E7A-7346-0B50-1DE7293543E0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FB98F40-3820-02C3-5678-1EABC366F401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1E7FEE7-121E-E356-C848-7593ED0D84CB}"/>
              </a:ext>
            </a:extLst>
          </p:cNvPr>
          <p:cNvSpPr txBox="1"/>
          <p:nvPr/>
        </p:nvSpPr>
        <p:spPr>
          <a:xfrm>
            <a:off x="114534" y="843040"/>
            <a:ext cx="75231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système utilise </a:t>
            </a:r>
            <a:r>
              <a:rPr lang="fr-FR" sz="2400" b="1" dirty="0">
                <a:solidFill>
                  <a:schemeClr val="bg1"/>
                </a:solidFill>
              </a:rPr>
              <a:t>SQLite</a:t>
            </a:r>
            <a:r>
              <a:rPr lang="fr-FR" sz="2400" dirty="0">
                <a:solidFill>
                  <a:schemeClr val="bg1"/>
                </a:solidFill>
              </a:rPr>
              <a:t> comme base de données afin de stocker les informations des utilisateurs, des patients, des analyses médicales ainsi que les conversations du </a:t>
            </a:r>
            <a:r>
              <a:rPr lang="fr-FR" sz="2400" dirty="0" err="1">
                <a:solidFill>
                  <a:schemeClr val="bg1"/>
                </a:solidFill>
              </a:rPr>
              <a:t>chatbot</a:t>
            </a:r>
            <a:r>
              <a:rPr lang="fr-FR" sz="2400" dirty="0">
                <a:solidFill>
                  <a:schemeClr val="bg1"/>
                </a:solidFill>
              </a:rPr>
              <a:t>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La base de données est organisée sous forme de tables relationnelles permettant une gestion efficace et sécurisée des données médicales.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Les principales tables utilisées sont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</a:t>
            </a:r>
            <a:r>
              <a:rPr lang="fr-FR" sz="2400" dirty="0" err="1">
                <a:solidFill>
                  <a:schemeClr val="bg1"/>
                </a:solidFill>
              </a:rPr>
              <a:t>Users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*Patients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</a:t>
            </a:r>
            <a:r>
              <a:rPr lang="fr-FR" sz="2400" dirty="0" err="1">
                <a:solidFill>
                  <a:schemeClr val="bg1"/>
                </a:solidFill>
              </a:rPr>
              <a:t>Medical</a:t>
            </a:r>
            <a:r>
              <a:rPr lang="fr-FR" sz="2400" dirty="0">
                <a:solidFill>
                  <a:schemeClr val="bg1"/>
                </a:solidFill>
              </a:rPr>
              <a:t> Analyses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</a:t>
            </a:r>
            <a:r>
              <a:rPr lang="fr-FR" sz="2400" dirty="0" err="1">
                <a:solidFill>
                  <a:schemeClr val="bg1"/>
                </a:solidFill>
              </a:rPr>
              <a:t>Chatbot</a:t>
            </a:r>
            <a:r>
              <a:rPr lang="fr-FR" sz="2400" dirty="0">
                <a:solidFill>
                  <a:schemeClr val="bg1"/>
                </a:solidFill>
              </a:rPr>
              <a:t> Messages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Cette structure facilite le stockage, la récupération et l’organisation des informations médicales.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883C210-E4F8-D185-3FE3-8EBCA37EE227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2D5B2DE-B793-F911-446F-176C8F52C575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3272952-5DF6-E2F1-1F45-A0F6181D8C96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4234121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61396-4D3F-2BB3-18F4-69CCEC30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5855C3F8-E99B-9C4C-4D8A-F9181622D7C7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883C48CD-E474-C14B-5ECD-6C91451B1942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CF18A483-8DBF-628A-7A82-0DAFC36B41A4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395C98B6-CFEC-1F3F-13D3-5EC58E0060B5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40D001D6-269E-F356-9A78-5F0208830282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02722704-5DC1-FED6-128B-9FF0A221FE4D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23216EAF-97D6-5069-2767-81F358359F64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E75A773D-6421-A863-0672-EF8FFEF1D8FC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9554219-BDBE-02F5-E8DD-26B03D8BE611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8BC5D5A9-FAF8-1262-EC9D-C4F6F8835F65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3D3630F-6705-5017-93E4-20CEF1F0F7DB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F62C205-2F42-0019-22B7-34684A44D2F7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013FFC-69B7-7486-AFCF-63F05D33C145}"/>
              </a:ext>
            </a:extLst>
          </p:cNvPr>
          <p:cNvSpPr txBox="1"/>
          <p:nvPr/>
        </p:nvSpPr>
        <p:spPr>
          <a:xfrm>
            <a:off x="3241899" y="171604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Résultats &amp; Évaluation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8CE3D6C-356D-C1BE-292D-A50762696D68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9531D249-F107-9124-AD41-8BDA4CBB58C5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28EADA1-487D-2648-8DC4-567065798D1C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38B36D5-C39D-AD9D-24A2-231BD47BD36A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07AD80A-C09D-5625-DEFD-4A98DE736487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1BCE137E-BE5E-0FA7-C0AE-5AB2210654E3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34C3213-EC55-2802-5798-72EA07C71613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E1A59E8-D392-BD1D-B57D-83A8767CD298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7DE75DF-E18E-E85A-4B9C-2492F7C7A062}"/>
              </a:ext>
            </a:extLst>
          </p:cNvPr>
          <p:cNvSpPr txBox="1"/>
          <p:nvPr/>
        </p:nvSpPr>
        <p:spPr>
          <a:xfrm>
            <a:off x="114534" y="843040"/>
            <a:ext cx="75231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Plusieurs métriques ont été utilisées afin d’évaluer les performances du modèle Deep Learning dans la classification des radiographies thoraciques.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Les résultats obtenus démontrent la capacité du système à détecter efficacement les anomalies pulmonaires tout en maintenant une bonne précision.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Les principales métriques utilisées sont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</a:t>
            </a:r>
            <a:r>
              <a:rPr lang="fr-FR" sz="2400" dirty="0" err="1">
                <a:solidFill>
                  <a:schemeClr val="bg1"/>
                </a:solidFill>
              </a:rPr>
              <a:t>Accuracy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</a:t>
            </a:r>
            <a:r>
              <a:rPr lang="fr-FR" sz="2400" dirty="0" err="1">
                <a:solidFill>
                  <a:schemeClr val="bg1"/>
                </a:solidFill>
              </a:rPr>
              <a:t>Precision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</a:t>
            </a:r>
            <a:r>
              <a:rPr lang="fr-FR" sz="2400" dirty="0" err="1">
                <a:solidFill>
                  <a:schemeClr val="bg1"/>
                </a:solidFill>
              </a:rPr>
              <a:t>Recall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*F1-Score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Les </a:t>
            </a:r>
            <a:r>
              <a:rPr lang="fr-FR" sz="2400" dirty="0" err="1">
                <a:solidFill>
                  <a:schemeClr val="bg1"/>
                </a:solidFill>
              </a:rPr>
              <a:t>heatmaps</a:t>
            </a:r>
            <a:r>
              <a:rPr lang="fr-FR" sz="2400" dirty="0">
                <a:solidFill>
                  <a:schemeClr val="bg1"/>
                </a:solidFill>
              </a:rPr>
              <a:t> Grad-CAM montrent également que le modèle se concentre principalement sur les zones pulmonaires affectées.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E559C6E-2C1A-FCF8-E47B-60C7DC95FF8F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F662A70-7B44-6AAD-45CA-7307E3DE5C53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AEA8C67-15C0-E40D-5DD2-23D8FE01705D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871208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517CE-0384-00C4-67E7-19EBF669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B398EA2F-75E1-A042-ACB8-C7F2B219FCC6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33CBF53D-57FD-FEB5-CD74-A72A6A4BE488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D24C8A4F-EDD9-D6F5-F45E-F1D4D943CAE8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C605654D-18EB-7C70-CCFA-FF730CD92C42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FD81A51B-3105-7EF9-E15C-5CDD52D187E0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7DD43FD6-C6E4-9E43-6D81-458A9DE61120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610CE747-EC5D-1C6D-B4BD-403F30A28EF9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1BC81969-D981-95AE-8A09-B440A30429F2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95809258-4D68-128D-EF1F-A162C08A9A97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F7E873B3-BB26-3949-09B4-B8ED2B4F2494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65B10AA-D9A8-A48E-1E8D-BDAB2AF9C9EB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B160110-4445-2B23-FCD6-A22850A64013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FE91E9-F328-5CAF-8798-7ADB7446C033}"/>
              </a:ext>
            </a:extLst>
          </p:cNvPr>
          <p:cNvSpPr txBox="1"/>
          <p:nvPr/>
        </p:nvSpPr>
        <p:spPr>
          <a:xfrm>
            <a:off x="3241899" y="171604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Limites du Projet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7A080EA-493C-8119-B516-36A075CC2ABA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7EE56AF-B44A-CE8B-AF40-44327442F9F6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26C9DE8-7D6B-570E-EEAE-0312B8568547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BAD65F5-8C04-273E-B31E-0C1C68807A08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9C17496-A0DC-3439-2227-41A35E9CCB60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CF96EAA-DF74-950A-D7EB-165B5D18AF2E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D502C831-07E5-C516-5494-BF59B60729B5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723FA24-13C7-FD31-F6C4-FFB34904E41A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508F632-AA7A-0200-0DFA-60CFFC5DB783}"/>
              </a:ext>
            </a:extLst>
          </p:cNvPr>
          <p:cNvSpPr txBox="1"/>
          <p:nvPr/>
        </p:nvSpPr>
        <p:spPr>
          <a:xfrm>
            <a:off x="114534" y="843040"/>
            <a:ext cx="752310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Malgré les performances prometteuses obtenues, certaines limites techniques et fonctionnelles restent présentes dans le système développé.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Les principales limites du projet sont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*la dépendance à la qualité et à la diversité du </a:t>
            </a:r>
            <a:r>
              <a:rPr lang="fr-FR" sz="2400" dirty="0" err="1">
                <a:solidFill>
                  <a:schemeClr val="bg1"/>
                </a:solidFill>
              </a:rPr>
              <a:t>dataset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*la détection limitée principalement à la pneumonie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*les limites d’interprétation des </a:t>
            </a:r>
            <a:r>
              <a:rPr lang="fr-FR" sz="2400" dirty="0" err="1">
                <a:solidFill>
                  <a:schemeClr val="bg1"/>
                </a:solidFill>
              </a:rPr>
              <a:t>heatmaps</a:t>
            </a:r>
            <a:r>
              <a:rPr lang="fr-FR" sz="2400" dirty="0">
                <a:solidFill>
                  <a:schemeClr val="bg1"/>
                </a:solidFill>
              </a:rPr>
              <a:t> Grad-CAM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*l’absence de validation clinique réelle dans un environnement hospitalier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Ces limitations montrent que le système constitue actuellement une solution académique nécessitant davantage d’améliorations avant une utilisation médicale à grande échelle.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ECB1702-4B4A-2160-AD3F-E3047236787D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C15E543-CFF5-0389-0D51-ECCCC095A546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F54E20D-45FE-0E60-C04A-C617F345C5C3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497133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A893C-8017-6CF7-F4E5-25ED3D73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9E049A19-FFEF-6F95-F40D-A0D524DF6916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F23D83CB-5A41-F8BA-2DE0-B305011A2051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B7E3B7C4-C3FC-80A9-2005-3A63FBFC7333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8406C85A-7FAC-DA60-2DA2-F814CDBFEAB7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FCBC30C6-E074-90AD-9C30-2FE65185A736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5129406-8268-905F-7AAB-3128F527FFCE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721329DC-6314-D025-C9F0-7A5BAA943036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1537E1C-0B78-365C-F040-E3CC9ECF268B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DE931151-0F8B-49B9-7F14-8F56BB84BFFF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2ECE5A8-6814-8281-E56C-233AD9CBCF8E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B14F66-5B2C-B6A7-A9AB-E7D0CFB47DF4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DCD4614-C9EB-2776-B6DD-C9EA6EB7A815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E00C005-B022-3857-050A-6137D2B26CE5}"/>
              </a:ext>
            </a:extLst>
          </p:cNvPr>
          <p:cNvSpPr txBox="1"/>
          <p:nvPr/>
        </p:nvSpPr>
        <p:spPr>
          <a:xfrm>
            <a:off x="2632299" y="31331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Perspectives d’Amélioration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3DC8DE1-817C-1F70-3E68-A0CBDB54382B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7C37889-71F6-B0B3-1BBD-125F0188660D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FFF6C3E-B6E2-43D9-4DCF-A134F3E186AC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89852AD-C39E-9872-CA21-C2D17DBD38AF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E1F2629-7063-1E18-40DC-7EE3206B6543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5B7590B-9DE3-22E7-952A-FD9A3367A392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319B3BA-A071-10A2-292D-B3BAF111243D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A833E02-AD2B-7CD3-1F2C-CCDC62FB2520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BF854B6-1F77-A849-6E0E-48CAAE1E7D33}"/>
              </a:ext>
            </a:extLst>
          </p:cNvPr>
          <p:cNvSpPr txBox="1"/>
          <p:nvPr/>
        </p:nvSpPr>
        <p:spPr>
          <a:xfrm>
            <a:off x="114534" y="843040"/>
            <a:ext cx="75231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Plusieurs améliorations peuvent être envisagées afin d’augmenter les performances et les fonctionnalités du système AI </a:t>
            </a:r>
            <a:r>
              <a:rPr lang="fr-FR" sz="2400" dirty="0" err="1">
                <a:solidFill>
                  <a:schemeClr val="bg1"/>
                </a:solidFill>
              </a:rPr>
              <a:t>Medical</a:t>
            </a:r>
            <a:r>
              <a:rPr lang="fr-FR" sz="2400" dirty="0">
                <a:solidFill>
                  <a:schemeClr val="bg1"/>
                </a:solidFill>
              </a:rPr>
              <a:t> Assistant.</a:t>
            </a:r>
          </a:p>
          <a:p>
            <a:r>
              <a:rPr lang="fr-FR" sz="2400" dirty="0">
                <a:solidFill>
                  <a:schemeClr val="bg1"/>
                </a:solidFill>
              </a:rPr>
              <a:t>Les principales perspectives futures sont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*l’utilisation de </a:t>
            </a:r>
            <a:r>
              <a:rPr lang="fr-FR" sz="2400" dirty="0" err="1">
                <a:solidFill>
                  <a:schemeClr val="bg1"/>
                </a:solidFill>
              </a:rPr>
              <a:t>datasets</a:t>
            </a:r>
            <a:r>
              <a:rPr lang="fr-FR" sz="2400" dirty="0">
                <a:solidFill>
                  <a:schemeClr val="bg1"/>
                </a:solidFill>
              </a:rPr>
              <a:t> médicaux plus volumineux et diversifiés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*la détection de plusieurs maladies pulmonaires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*l’intégration de modèles Deep Learning plus avancés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*l’amélioration du système Human-in-the-Loop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*le déploiement sur une infrastructure cloud </a:t>
            </a:r>
          </a:p>
          <a:p>
            <a:r>
              <a:rPr lang="fr-FR" sz="2400" dirty="0">
                <a:solidFill>
                  <a:schemeClr val="bg1"/>
                </a:solidFill>
              </a:rPr>
              <a:t>*l’intégration dans un environnement hospitalier réel </a:t>
            </a:r>
          </a:p>
          <a:p>
            <a:r>
              <a:rPr lang="fr-FR" sz="2400" dirty="0">
                <a:solidFill>
                  <a:schemeClr val="bg1"/>
                </a:solidFill>
              </a:rPr>
              <a:t>Ces améliorations permettraient de rendre le système plus performant, plus intelligent et plus adapté à une utilisation clinique réelle.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FAB7FE1-D9BE-6534-0FCD-10B4FB6465C1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C3840A38-8570-11C9-A8EB-482002E6D538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0160ADF-DB54-1B26-E2B8-C61A3B8DB978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217390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41F14-D7B8-202A-C3B3-CA27A6DB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E78CAF9E-D805-EE25-27F6-1ADC37DF76C5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2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C61591E-A6B7-EFA3-F3F9-64AC80ED9A29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E18A0389-2FE8-64F5-F096-659E61A4E86E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3F46CB73-40BC-62BF-EFEF-A7820C9AD354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B8556169-85AB-5327-9BF9-1C9841784BA9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C26D7C93-2C37-6200-F4AE-D3F2751F5FE4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14060289-0B0B-0C4E-03E7-82BCF0E6A0E2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9361EBD7-744C-60E6-B415-AAF10EC31BC6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6F58C76-8760-2DB1-B99B-8D559C7FD221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28AA01D-62DA-CE09-A2C7-4B87F6F15C5C}"/>
              </a:ext>
            </a:extLst>
          </p:cNvPr>
          <p:cNvSpPr txBox="1"/>
          <p:nvPr/>
        </p:nvSpPr>
        <p:spPr>
          <a:xfrm>
            <a:off x="455090" y="6173302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CB87D39-9E9B-8948-6DBB-91EFCA24EBCE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083FC01-DB88-4AF1-DB11-3FA2264B16E2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25AEA2F-3832-5A97-3A28-7FD58245F972}"/>
              </a:ext>
            </a:extLst>
          </p:cNvPr>
          <p:cNvSpPr txBox="1"/>
          <p:nvPr/>
        </p:nvSpPr>
        <p:spPr>
          <a:xfrm>
            <a:off x="2632299" y="31331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Conclusion Générale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DC6B832-07A5-A730-64BB-D32BF9551FA4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3EB96F7-9D1F-BB6C-7568-79CFB371B1B9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17CB9DF-00CA-1A05-1D27-3566C7B50FFD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4814FBF-06C1-4466-B250-CE324301BEF1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92EAD89-091C-D792-AEB3-2407B4E7B136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12D85417-52A1-1FD2-E53D-C3DC4E69FD00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FEE66734-5EFA-24F5-A1B5-8A832E89C429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9854C30-F714-392B-903F-844026BECFC6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9C89E17-68AB-A7B7-A3A6-80D955C16C39}"/>
              </a:ext>
            </a:extLst>
          </p:cNvPr>
          <p:cNvSpPr txBox="1"/>
          <p:nvPr/>
        </p:nvSpPr>
        <p:spPr>
          <a:xfrm>
            <a:off x="114534" y="843040"/>
            <a:ext cx="752310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Ce projet a permis de développer un système intelligent d’assistance médicale basé sur le Deep Learning pour l’analyse des radiographies thoraciques.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L’utilisation de l’architecture ResNet18 a permis de réaliser une classification automatique des images médicales afin de détecter les cas de pneumonie avec des performances satisfaisantes.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L’intégration de Grad-CAM a amélioré l’interprétabilité des prédictions tandis que l’approche Human-in-the-Loop a permis de maintenir le médecin au centre du processus de décision médicale.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Le développement de la plateforme web avec </a:t>
            </a:r>
            <a:r>
              <a:rPr lang="fr-FR" sz="2000" dirty="0" err="1">
                <a:solidFill>
                  <a:schemeClr val="bg1"/>
                </a:solidFill>
              </a:rPr>
              <a:t>FastAPI</a:t>
            </a:r>
            <a:r>
              <a:rPr lang="fr-FR" sz="2000" dirty="0">
                <a:solidFill>
                  <a:schemeClr val="bg1"/>
                </a:solidFill>
              </a:rPr>
              <a:t> et Next.js a également permis de créer une application moderne, interactive et sécurisée.</a:t>
            </a:r>
          </a:p>
          <a:p>
            <a:r>
              <a:rPr lang="fr-FR" sz="2000" dirty="0">
                <a:solidFill>
                  <a:schemeClr val="bg1"/>
                </a:solidFill>
              </a:rPr>
              <a:t>Ce projet démontre ainsi le potentiel de l’intelligence artificielle dans le domaine médical et ouvre la voie vers des systèmes d’assistance au diagnostic plus performants et explicables.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C1EC23C-B9B8-82D0-1FE0-C131F0F808A7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C3AC1C8-A485-AA75-CC76-167F9CDE9BEC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55683E0-8397-B06C-7922-2B6D417AE42A}"/>
              </a:ext>
            </a:extLst>
          </p:cNvPr>
          <p:cNvSpPr/>
          <p:nvPr/>
        </p:nvSpPr>
        <p:spPr>
          <a:xfrm>
            <a:off x="7637641" y="1000492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472136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BB3CF-F6FC-8F1F-BE15-E6F9AD59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F4170DBE-975D-2DB8-FFC5-7AF7369973A6}"/>
              </a:ext>
            </a:extLst>
          </p:cNvPr>
          <p:cNvGrpSpPr/>
          <p:nvPr/>
        </p:nvGrpSpPr>
        <p:grpSpPr>
          <a:xfrm>
            <a:off x="13134066" y="57912"/>
            <a:ext cx="8016240" cy="6742176"/>
            <a:chOff x="5065776" y="0"/>
            <a:chExt cx="8016240" cy="6742176"/>
          </a:xfrm>
          <a:blipFill>
            <a:blip r:embed="rId3"/>
            <a:stretch>
              <a:fillRect/>
            </a:stretch>
          </a:blipFill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BD8EFDB8-605B-473E-026F-4E9749994F43}"/>
                </a:ext>
              </a:extLst>
            </p:cNvPr>
            <p:cNvGrpSpPr/>
            <p:nvPr/>
          </p:nvGrpSpPr>
          <p:grpSpPr>
            <a:xfrm>
              <a:off x="5065776" y="877824"/>
              <a:ext cx="8016240" cy="5864352"/>
              <a:chOff x="4480560" y="157480"/>
              <a:chExt cx="8016240" cy="6228080"/>
            </a:xfrm>
            <a:grpFill/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5232CEBE-CCD2-9CE9-F0BB-9C30E3814123}"/>
                  </a:ext>
                </a:extLst>
              </p:cNvPr>
              <p:cNvSpPr/>
              <p:nvPr/>
            </p:nvSpPr>
            <p:spPr>
              <a:xfrm>
                <a:off x="5394960" y="15748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AF7E50F9-C378-2532-C44A-9562374A7C79}"/>
                  </a:ext>
                </a:extLst>
              </p:cNvPr>
              <p:cNvSpPr/>
              <p:nvPr/>
            </p:nvSpPr>
            <p:spPr>
              <a:xfrm>
                <a:off x="4480560" y="1218184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E231ACC7-D9E0-0788-A253-D31CF74E1343}"/>
                  </a:ext>
                </a:extLst>
              </p:cNvPr>
              <p:cNvSpPr/>
              <p:nvPr/>
            </p:nvSpPr>
            <p:spPr>
              <a:xfrm>
                <a:off x="5394960" y="2278888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C7678BD1-8456-A1E3-F0EF-C54C75A05C4D}"/>
                  </a:ext>
                </a:extLst>
              </p:cNvPr>
              <p:cNvSpPr/>
              <p:nvPr/>
            </p:nvSpPr>
            <p:spPr>
              <a:xfrm>
                <a:off x="4480560" y="3339592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527F8D06-55BB-539D-37EA-A99324EBCC4C}"/>
                  </a:ext>
                </a:extLst>
              </p:cNvPr>
              <p:cNvSpPr/>
              <p:nvPr/>
            </p:nvSpPr>
            <p:spPr>
              <a:xfrm>
                <a:off x="5394960" y="4400296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30A8943-DCE3-5CE5-3F5E-4736AAE0C18C}"/>
                  </a:ext>
                </a:extLst>
              </p:cNvPr>
              <p:cNvSpPr/>
              <p:nvPr/>
            </p:nvSpPr>
            <p:spPr>
              <a:xfrm>
                <a:off x="4480560" y="5461000"/>
                <a:ext cx="7101840" cy="924560"/>
              </a:xfrm>
              <a:prstGeom prst="roundRect">
                <a:avLst>
                  <a:gd name="adj" fmla="val 39414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/>
              </a:p>
            </p:txBody>
          </p:sp>
        </p:grp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31ED1FC8-D99F-924A-8B6C-66F261AC43A2}"/>
                </a:ext>
              </a:extLst>
            </p:cNvPr>
            <p:cNvSpPr/>
            <p:nvPr/>
          </p:nvSpPr>
          <p:spPr>
            <a:xfrm>
              <a:off x="5090160" y="0"/>
              <a:ext cx="7101840" cy="768096"/>
            </a:xfrm>
            <a:prstGeom prst="roundRect">
              <a:avLst>
                <a:gd name="adj" fmla="val 375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98A0073-CD19-540C-F4BF-5723CA6C8E64}"/>
              </a:ext>
            </a:extLst>
          </p:cNvPr>
          <p:cNvSpPr txBox="1"/>
          <p:nvPr/>
        </p:nvSpPr>
        <p:spPr>
          <a:xfrm>
            <a:off x="455090" y="39455"/>
            <a:ext cx="1128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Medical Assistant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Chest X-Ray Analysis Using Deep Learning and Explainable AI</a:t>
            </a:r>
          </a:p>
          <a:p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0C9705A-08FE-45D2-6113-DBAA5F69DD2B}"/>
              </a:ext>
            </a:extLst>
          </p:cNvPr>
          <p:cNvSpPr txBox="1"/>
          <p:nvPr/>
        </p:nvSpPr>
        <p:spPr>
          <a:xfrm>
            <a:off x="-8140036" y="3325245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Safaa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Bouhouch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Boubchir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Assmaa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Chafi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Ismail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Ighmour</a:t>
            </a:r>
            <a:endParaRPr lang="fr-MA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6918DE5-C44E-ECC0-FEDF-E10726E02F8A}"/>
              </a:ext>
            </a:extLst>
          </p:cNvPr>
          <p:cNvSpPr txBox="1"/>
          <p:nvPr/>
        </p:nvSpPr>
        <p:spPr>
          <a:xfrm>
            <a:off x="-10297082" y="5434638"/>
            <a:ext cx="6547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lvl="1"/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fr-MA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Moukafih</a:t>
            </a: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Youness</a:t>
            </a:r>
            <a:b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MA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Hakim Hafidi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Université Internationale de Rabat</a:t>
            </a:r>
          </a:p>
          <a:p>
            <a:pPr>
              <a:buNone/>
            </a:pPr>
            <a:r>
              <a:rPr lang="fr-M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Project — 2025/2026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7758C2-49B4-9B6E-FC7E-06260EDF85EA}"/>
              </a:ext>
            </a:extLst>
          </p:cNvPr>
          <p:cNvSpPr txBox="1"/>
          <p:nvPr/>
        </p:nvSpPr>
        <p:spPr>
          <a:xfrm>
            <a:off x="3319741" y="-2360088"/>
            <a:ext cx="157675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4400" dirty="0">
                <a:solidFill>
                  <a:schemeClr val="bg1"/>
                </a:solidFill>
              </a:rPr>
              <a:t>Conclusion Générale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73D5E1D-87F8-DBDF-2BF5-3BEBDB1CB25E}"/>
              </a:ext>
            </a:extLst>
          </p:cNvPr>
          <p:cNvSpPr/>
          <p:nvPr/>
        </p:nvSpPr>
        <p:spPr>
          <a:xfrm>
            <a:off x="15280796" y="1245531"/>
            <a:ext cx="3806483" cy="207971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D5412B7-96F1-F5F3-C400-9FF689709CE0}"/>
              </a:ext>
            </a:extLst>
          </p:cNvPr>
          <p:cNvSpPr/>
          <p:nvPr/>
        </p:nvSpPr>
        <p:spPr>
          <a:xfrm>
            <a:off x="15696144" y="3635040"/>
            <a:ext cx="3806483" cy="2079714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AE9C8DA-F1A6-A8B9-29B8-B536419B4C24}"/>
              </a:ext>
            </a:extLst>
          </p:cNvPr>
          <p:cNvSpPr/>
          <p:nvPr/>
        </p:nvSpPr>
        <p:spPr>
          <a:xfrm>
            <a:off x="-4127812" y="1205284"/>
            <a:ext cx="3123144" cy="468219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5475DEF-EF28-9723-AE4B-08DE74E1F18E}"/>
              </a:ext>
            </a:extLst>
          </p:cNvPr>
          <p:cNvSpPr/>
          <p:nvPr/>
        </p:nvSpPr>
        <p:spPr>
          <a:xfrm>
            <a:off x="13217769" y="1143246"/>
            <a:ext cx="3123144" cy="4682195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DD4E266-4B8F-7E8A-00DC-1200A04D6DAE}"/>
              </a:ext>
            </a:extLst>
          </p:cNvPr>
          <p:cNvSpPr/>
          <p:nvPr/>
        </p:nvSpPr>
        <p:spPr>
          <a:xfrm>
            <a:off x="-8028666" y="3724607"/>
            <a:ext cx="4960972" cy="2100834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4191D18-6102-3001-1009-D17DEF5DAC68}"/>
              </a:ext>
            </a:extLst>
          </p:cNvPr>
          <p:cNvSpPr/>
          <p:nvPr/>
        </p:nvSpPr>
        <p:spPr>
          <a:xfrm>
            <a:off x="14048465" y="3368533"/>
            <a:ext cx="4960972" cy="2100834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209B23F-A3BE-F438-7B18-386B31298A17}"/>
              </a:ext>
            </a:extLst>
          </p:cNvPr>
          <p:cNvSpPr/>
          <p:nvPr/>
        </p:nvSpPr>
        <p:spPr>
          <a:xfrm>
            <a:off x="2999232" y="-3147807"/>
            <a:ext cx="4923692" cy="1643341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0836A97-9C68-B3DF-7304-85E05EF30E34}"/>
              </a:ext>
            </a:extLst>
          </p:cNvPr>
          <p:cNvSpPr/>
          <p:nvPr/>
        </p:nvSpPr>
        <p:spPr>
          <a:xfrm>
            <a:off x="5363074" y="8136002"/>
            <a:ext cx="4923692" cy="1643341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6DD0BD7-EBAC-9A49-3AC1-50413E148263}"/>
              </a:ext>
            </a:extLst>
          </p:cNvPr>
          <p:cNvSpPr txBox="1"/>
          <p:nvPr/>
        </p:nvSpPr>
        <p:spPr>
          <a:xfrm>
            <a:off x="-7987488" y="962785"/>
            <a:ext cx="752310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Ce projet a permis de développer un système intelligent d’assistance médicale basé sur le Deep Learning pour l’analyse des radiographies thoraciques.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L’utilisation de l’architecture ResNet18 a permis de réaliser une classification automatique des images médicales afin de détecter les cas de pneumonie avec des performances satisfaisantes.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L’intégration de Grad-CAM a amélioré l’interprétabilité des prédictions tandis que l’approche Human-in-the-Loop a permis de maintenir le médecin au centre du processus de décision médicale.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Le développement de la plateforme web avec </a:t>
            </a:r>
            <a:r>
              <a:rPr lang="fr-FR" sz="2000" dirty="0" err="1">
                <a:solidFill>
                  <a:schemeClr val="bg1"/>
                </a:solidFill>
              </a:rPr>
              <a:t>FastAPI</a:t>
            </a:r>
            <a:r>
              <a:rPr lang="fr-FR" sz="2000" dirty="0">
                <a:solidFill>
                  <a:schemeClr val="bg1"/>
                </a:solidFill>
              </a:rPr>
              <a:t> et Next.js a également permis de créer une application moderne, interactive et sécurisée.</a:t>
            </a:r>
          </a:p>
          <a:p>
            <a:r>
              <a:rPr lang="fr-FR" sz="2000" dirty="0">
                <a:solidFill>
                  <a:schemeClr val="bg1"/>
                </a:solidFill>
              </a:rPr>
              <a:t>Ce projet démontre ainsi le potentiel de l’intelligence artificielle dans le domaine médical et ouvre la voie vers des systèmes d’assistance au diagnostic plus performants et explicables.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D7B98DF-0AFC-FE7E-79D4-895EDD3743D9}"/>
              </a:ext>
            </a:extLst>
          </p:cNvPr>
          <p:cNvSpPr/>
          <p:nvPr/>
        </p:nvSpPr>
        <p:spPr>
          <a:xfrm>
            <a:off x="-4905756" y="1935380"/>
            <a:ext cx="3845170" cy="199751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6E69570-1103-7523-8C73-18533E03593E}"/>
              </a:ext>
            </a:extLst>
          </p:cNvPr>
          <p:cNvSpPr/>
          <p:nvPr/>
        </p:nvSpPr>
        <p:spPr>
          <a:xfrm>
            <a:off x="12326698" y="1348202"/>
            <a:ext cx="3845170" cy="1997515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7AB742B-B27E-8C80-B6F4-FC485559004C}"/>
              </a:ext>
            </a:extLst>
          </p:cNvPr>
          <p:cNvSpPr/>
          <p:nvPr/>
        </p:nvSpPr>
        <p:spPr>
          <a:xfrm>
            <a:off x="14346319" y="738644"/>
            <a:ext cx="4365264" cy="4843845"/>
          </a:xfrm>
          <a:prstGeom prst="roundRect">
            <a:avLst>
              <a:gd name="adj" fmla="val 19596"/>
            </a:avLst>
          </a:prstGeom>
          <a:blipFill>
            <a:blip r:embed="rId1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88EA750-0267-F6D1-00C7-B48472ADD2D6}"/>
              </a:ext>
            </a:extLst>
          </p:cNvPr>
          <p:cNvSpPr txBox="1"/>
          <p:nvPr/>
        </p:nvSpPr>
        <p:spPr>
          <a:xfrm>
            <a:off x="123882" y="1949728"/>
            <a:ext cx="101790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Thank You</a:t>
            </a:r>
          </a:p>
          <a:p>
            <a:r>
              <a:rPr lang="en-US" sz="5400" b="1" dirty="0">
                <a:solidFill>
                  <a:schemeClr val="bg1"/>
                </a:solidFill>
              </a:rPr>
              <a:t>For Your Attention</a:t>
            </a:r>
          </a:p>
          <a:p>
            <a:r>
              <a:rPr lang="en-US" sz="5400" b="1" dirty="0">
                <a:solidFill>
                  <a:schemeClr val="bg1"/>
                </a:solidFill>
              </a:rPr>
              <a:t>Questions ?</a:t>
            </a:r>
          </a:p>
          <a:p>
            <a:endParaRPr lang="fr-MA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623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3122</Words>
  <Application>Microsoft Office PowerPoint</Application>
  <PresentationFormat>Grand écran</PresentationFormat>
  <Paragraphs>385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BOUBCHIR</dc:creator>
  <cp:lastModifiedBy>Adam BOUBCHIR</cp:lastModifiedBy>
  <cp:revision>10</cp:revision>
  <dcterms:created xsi:type="dcterms:W3CDTF">2026-05-25T00:37:14Z</dcterms:created>
  <dcterms:modified xsi:type="dcterms:W3CDTF">2026-05-25T01:58:09Z</dcterms:modified>
</cp:coreProperties>
</file>